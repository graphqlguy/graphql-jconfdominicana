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REST 2000- Fielding 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AJAX - 2005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Shape 2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Azure Services: Services like Azure DevOps Analytics and Azure Table Storage continue to offer OData-based endpoints for querying data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OData (Open Data Protocol) is very much still in use, particularly in large-scale enterprise environments and modern Microsoft-based ecosystems. While it is no longer the "trendy" choice for new consumer-facing web apps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SAP Ecosystem: SAP is "all-in" on OData. I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2008 — OpenAPI (REST, public)                                                  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  ▎ 2012 - API.NEXT (experience-driven endpoints)                                                                                                                                      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  ▎ 2015 - Falcor (graph protocol)        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  ▎ 2017 - Graph Monolith (single GraphQL server)                                                                                                                                      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  ▎ 2019 - Federated GraphQL (</a:t>
            </a: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The Backend for Frontend (BFF) pattern was popularized by Sam Newman and engineers at SoundCloud around 2013-2015. While Sam Newman widely documented the pattern, it originated from efforts by developers like Phil Calçado at SoundCloud to solve API complexity issues for multiple frontends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257443" y="798908"/>
            <a:ext cx="2917801" cy="55140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514886" y="1457325"/>
            <a:ext cx="2402701" cy="657300"/>
          </a:xfrm>
          <a:prstGeom prst="rect">
            <a:avLst/>
          </a:prstGeom>
        </p:spPr>
        <p:txBody>
          <a:bodyPr/>
          <a:lstStyle>
            <a:lvl1pPr marL="304800" indent="-152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304800" indent="31115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304800" indent="78105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304800" indent="1244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304800" indent="1701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xfrm>
            <a:off x="171628" y="102989"/>
            <a:ext cx="3089401" cy="4287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sz="quarter" idx="1"/>
          </p:nvPr>
        </p:nvSpPr>
        <p:spPr>
          <a:xfrm>
            <a:off x="171628" y="600075"/>
            <a:ext cx="3089401" cy="1697101"/>
          </a:xfrm>
          <a:prstGeom prst="rect">
            <a:avLst/>
          </a:prstGeom>
        </p:spPr>
        <p:txBody>
          <a:bodyPr/>
          <a:lstStyle>
            <a:lvl1pPr indent="-273050">
              <a:spcBef>
                <a:spcPts val="100"/>
              </a:spcBef>
            </a:lvl1pPr>
            <a:lvl2pPr marL="939222" indent="-297872">
              <a:spcBef>
                <a:spcPts val="100"/>
              </a:spcBef>
            </a:lvl2pPr>
            <a:lvl3pPr marL="1462616" indent="-364066">
              <a:spcBef>
                <a:spcPts val="100"/>
              </a:spcBef>
            </a:lvl3pPr>
            <a:lvl4pPr marL="1965325" indent="-409575">
              <a:spcBef>
                <a:spcPts val="100"/>
              </a:spcBef>
            </a:lvl4pPr>
            <a:lvl5pPr marL="2422525" indent="-409575">
              <a:spcBef>
                <a:spcPts val="1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271149" y="1652588"/>
            <a:ext cx="2917801" cy="510901"/>
          </a:xfrm>
          <a:prstGeom prst="rect">
            <a:avLst/>
          </a:prstGeom>
        </p:spPr>
        <p:txBody>
          <a:bodyPr anchor="t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271149" y="1090016"/>
            <a:ext cx="2917801" cy="562502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8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8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8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8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8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171628" y="102989"/>
            <a:ext cx="3089401" cy="4287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171628" y="600075"/>
            <a:ext cx="1516201" cy="1697101"/>
          </a:xfrm>
          <a:prstGeom prst="rect">
            <a:avLst/>
          </a:prstGeom>
        </p:spPr>
        <p:txBody>
          <a:bodyPr/>
          <a:lstStyle>
            <a:lvl1pPr indent="-298450">
              <a:buSzPts val="1100"/>
              <a:defRPr sz="1100"/>
            </a:lvl1pPr>
            <a:lvl2pPr marL="977900" indent="-349250">
              <a:buSzPts val="1100"/>
              <a:defRPr sz="1100"/>
            </a:lvl2pPr>
            <a:lvl3pPr marL="1476375" indent="-384175">
              <a:buSzPts val="1100"/>
              <a:defRPr sz="1100"/>
            </a:lvl3pPr>
            <a:lvl4pPr marL="1984828" indent="-429078">
              <a:buSzPts val="1100"/>
              <a:defRPr sz="1100"/>
            </a:lvl4pPr>
            <a:lvl5pPr marL="2442028" indent="-429078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36;p19"/>
          <p:cNvSpPr txBox="1"/>
          <p:nvPr>
            <p:ph type="body" sz="quarter" idx="21"/>
          </p:nvPr>
        </p:nvSpPr>
        <p:spPr>
          <a:xfrm>
            <a:off x="1744892" y="600074"/>
            <a:ext cx="1516201" cy="1697102"/>
          </a:xfrm>
          <a:prstGeom prst="rect">
            <a:avLst/>
          </a:prstGeom>
        </p:spPr>
        <p:txBody>
          <a:bodyPr/>
          <a:lstStyle/>
          <a:p>
            <a:pPr indent="-298450">
              <a:buSzPts val="1100"/>
              <a:defRPr sz="1100"/>
            </a:pP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171628" y="102989"/>
            <a:ext cx="3089401" cy="4287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171628" y="575666"/>
            <a:ext cx="1516801" cy="240002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900"/>
            </a:lvl1pPr>
            <a:lvl2pPr marL="228600" indent="457200">
              <a:buClrTx/>
              <a:buSzTx/>
              <a:buFontTx/>
              <a:buNone/>
              <a:defRPr b="1" sz="900"/>
            </a:lvl2pPr>
            <a:lvl3pPr marL="228600" indent="914400">
              <a:buClrTx/>
              <a:buSzTx/>
              <a:buFontTx/>
              <a:buNone/>
              <a:defRPr b="1" sz="900"/>
            </a:lvl3pPr>
            <a:lvl4pPr marL="228600" indent="1371600">
              <a:buClrTx/>
              <a:buSzTx/>
              <a:buFontTx/>
              <a:buNone/>
              <a:defRPr b="1" sz="900"/>
            </a:lvl4pPr>
            <a:lvl5pPr marL="228600" indent="1828800">
              <a:buClrTx/>
              <a:buSzTx/>
              <a:buFontTx/>
              <a:buNone/>
              <a:defRPr b="1" sz="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3;p20"/>
          <p:cNvSpPr txBox="1"/>
          <p:nvPr>
            <p:ph type="body" sz="quarter" idx="21"/>
          </p:nvPr>
        </p:nvSpPr>
        <p:spPr>
          <a:xfrm>
            <a:off x="171628" y="815577"/>
            <a:ext cx="1516802" cy="1481702"/>
          </a:xfrm>
          <a:prstGeom prst="rect">
            <a:avLst/>
          </a:prstGeom>
        </p:spPr>
        <p:txBody>
          <a:bodyPr/>
          <a:lstStyle/>
          <a:p>
            <a:pPr indent="-285750">
              <a:buSzPts val="900"/>
              <a:defRPr sz="900"/>
            </a:pPr>
          </a:p>
        </p:txBody>
      </p:sp>
      <p:sp>
        <p:nvSpPr>
          <p:cNvPr id="58" name="Google Shape;44;p20"/>
          <p:cNvSpPr txBox="1"/>
          <p:nvPr>
            <p:ph type="body" sz="quarter" idx="22"/>
          </p:nvPr>
        </p:nvSpPr>
        <p:spPr>
          <a:xfrm>
            <a:off x="1743700" y="575666"/>
            <a:ext cx="1517101" cy="240001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900"/>
            </a:pPr>
          </a:p>
        </p:txBody>
      </p:sp>
      <p:sp>
        <p:nvSpPr>
          <p:cNvPr id="59" name="Google Shape;45;p20"/>
          <p:cNvSpPr txBox="1"/>
          <p:nvPr>
            <p:ph type="body" sz="quarter" idx="23"/>
          </p:nvPr>
        </p:nvSpPr>
        <p:spPr>
          <a:xfrm>
            <a:off x="1743700" y="815577"/>
            <a:ext cx="1517101" cy="1481702"/>
          </a:xfrm>
          <a:prstGeom prst="rect">
            <a:avLst/>
          </a:prstGeom>
        </p:spPr>
        <p:txBody>
          <a:bodyPr/>
          <a:lstStyle/>
          <a:p>
            <a:pPr indent="-285750">
              <a:buSzPts val="900"/>
              <a:defRPr sz="900"/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171628" y="102989"/>
            <a:ext cx="3089401" cy="4287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171628" y="102394"/>
            <a:ext cx="1129201" cy="435900"/>
          </a:xfrm>
          <a:prstGeom prst="rect">
            <a:avLst/>
          </a:prstGeom>
        </p:spPr>
        <p:txBody>
          <a:bodyPr anchor="b"/>
          <a:lstStyle>
            <a:lvl1pPr algn="l">
              <a:defRPr b="1" sz="8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1342042" y="102394"/>
            <a:ext cx="1918800" cy="21948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22"/>
          <p:cNvSpPr txBox="1"/>
          <p:nvPr>
            <p:ph type="body" sz="quarter" idx="21"/>
          </p:nvPr>
        </p:nvSpPr>
        <p:spPr>
          <a:xfrm>
            <a:off x="171629" y="538162"/>
            <a:ext cx="1129200" cy="1759201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100"/>
              </a:spcBef>
              <a:buClrTx/>
              <a:buSzTx/>
              <a:buFontTx/>
              <a:buNone/>
              <a:defRPr sz="5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672808" y="1800225"/>
            <a:ext cx="2059502" cy="212400"/>
          </a:xfrm>
          <a:prstGeom prst="rect">
            <a:avLst/>
          </a:prstGeom>
        </p:spPr>
        <p:txBody>
          <a:bodyPr anchor="b"/>
          <a:lstStyle>
            <a:lvl1pPr algn="l">
              <a:defRPr b="1" sz="8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3;p23"/>
          <p:cNvSpPr/>
          <p:nvPr>
            <p:ph type="pic" sz="quarter" idx="21"/>
          </p:nvPr>
        </p:nvSpPr>
        <p:spPr>
          <a:xfrm>
            <a:off x="672808" y="229790"/>
            <a:ext cx="2059502" cy="1543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672808" y="2012751"/>
            <a:ext cx="2059502" cy="301801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100"/>
              </a:spcBef>
              <a:buClrTx/>
              <a:buSzTx/>
              <a:buFontTx/>
              <a:buNone/>
              <a:defRPr sz="500"/>
            </a:lvl1pPr>
            <a:lvl2pPr marL="228600" indent="457200">
              <a:spcBef>
                <a:spcPts val="100"/>
              </a:spcBef>
              <a:buClrTx/>
              <a:buSzTx/>
              <a:buFontTx/>
              <a:buNone/>
              <a:defRPr sz="500"/>
            </a:lvl2pPr>
            <a:lvl3pPr marL="228600" indent="914400">
              <a:spcBef>
                <a:spcPts val="100"/>
              </a:spcBef>
              <a:buClrTx/>
              <a:buSzTx/>
              <a:buFontTx/>
              <a:buNone/>
              <a:defRPr sz="500"/>
            </a:lvl3pPr>
            <a:lvl4pPr marL="228600" indent="1371600">
              <a:spcBef>
                <a:spcPts val="100"/>
              </a:spcBef>
              <a:buClrTx/>
              <a:buSzTx/>
              <a:buFontTx/>
              <a:buNone/>
              <a:defRPr sz="500"/>
            </a:lvl4pPr>
            <a:lvl5pPr marL="228600" indent="1828800">
              <a:spcBef>
                <a:spcPts val="100"/>
              </a:spcBef>
              <a:buClrTx/>
              <a:buSzTx/>
              <a:buFontTx/>
              <a:buNone/>
              <a:defRPr sz="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171628" y="102989"/>
            <a:ext cx="3089401" cy="4287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 rot="5400000">
            <a:off x="867697" y="-96075"/>
            <a:ext cx="1697101" cy="3089400"/>
          </a:xfrm>
          <a:prstGeom prst="rect">
            <a:avLst/>
          </a:prstGeom>
        </p:spPr>
        <p:txBody>
          <a:bodyPr/>
          <a:lstStyle>
            <a:lvl1pPr indent="-273050">
              <a:spcBef>
                <a:spcPts val="100"/>
              </a:spcBef>
            </a:lvl1pPr>
            <a:lvl2pPr marL="939222" indent="-297872">
              <a:spcBef>
                <a:spcPts val="100"/>
              </a:spcBef>
            </a:lvl2pPr>
            <a:lvl3pPr marL="1462616" indent="-364066">
              <a:spcBef>
                <a:spcPts val="100"/>
              </a:spcBef>
            </a:lvl3pPr>
            <a:lvl4pPr marL="1965325" indent="-409575">
              <a:spcBef>
                <a:spcPts val="100"/>
              </a:spcBef>
            </a:lvl4pPr>
            <a:lvl5pPr marL="2422525" indent="-409575">
              <a:spcBef>
                <a:spcPts val="1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1777746" y="813988"/>
            <a:ext cx="2194201" cy="7722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sz="quarter" idx="1"/>
          </p:nvPr>
        </p:nvSpPr>
        <p:spPr>
          <a:xfrm rot="5400000">
            <a:off x="204357" y="70139"/>
            <a:ext cx="2194201" cy="2259901"/>
          </a:xfrm>
          <a:prstGeom prst="rect">
            <a:avLst/>
          </a:prstGeom>
        </p:spPr>
        <p:txBody>
          <a:bodyPr/>
          <a:lstStyle>
            <a:lvl1pPr indent="-273050">
              <a:spcBef>
                <a:spcPts val="100"/>
              </a:spcBef>
            </a:lvl1pPr>
            <a:lvl2pPr marL="939222" indent="-297872">
              <a:spcBef>
                <a:spcPts val="100"/>
              </a:spcBef>
            </a:lvl2pPr>
            <a:lvl3pPr marL="1462616" indent="-364066">
              <a:spcBef>
                <a:spcPts val="100"/>
              </a:spcBef>
            </a:lvl3pPr>
            <a:lvl4pPr marL="1965325" indent="-409575">
              <a:spcBef>
                <a:spcPts val="100"/>
              </a:spcBef>
            </a:lvl4pPr>
            <a:lvl5pPr marL="2422525" indent="-409575">
              <a:spcBef>
                <a:spcPts val="1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149" tIns="17149" rIns="17149" bIns="1714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149" tIns="17149" rIns="17149" bIns="1714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3134013" y="2388531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17149" tIns="17149" rIns="17149" bIns="17149" anchor="ctr">
            <a:spAutoFit/>
          </a:bodyPr>
          <a:lstStyle>
            <a:lvl1pPr algn="r">
              <a:defRPr sz="5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7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048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41531" marR="0" indent="-325581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–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66850" marR="0" indent="-3810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9685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–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257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8829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401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7973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254500" marR="0" indent="-4191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>
          <a:srgbClr val="000000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4;p1" descr="Google Shape;84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64" y="0"/>
            <a:ext cx="9171432" cy="513892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85;p1"/>
          <p:cNvSpPr/>
          <p:nvPr/>
        </p:nvSpPr>
        <p:spPr>
          <a:xfrm>
            <a:off x="0" y="0"/>
            <a:ext cx="9176184" cy="5140960"/>
          </a:xfrm>
          <a:prstGeom prst="rect">
            <a:avLst/>
          </a:prstGeom>
          <a:solidFill>
            <a:srgbClr val="231D4F">
              <a:alpha val="80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7" name="Google Shape;86;p1"/>
          <p:cNvSpPr/>
          <p:nvPr/>
        </p:nvSpPr>
        <p:spPr>
          <a:xfrm>
            <a:off x="3262619" y="3140709"/>
            <a:ext cx="2654140" cy="179844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8" name="Google Shape;87;p1"/>
          <p:cNvSpPr/>
          <p:nvPr/>
        </p:nvSpPr>
        <p:spPr>
          <a:xfrm>
            <a:off x="7756301" y="4226042"/>
            <a:ext cx="1211055" cy="75706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9" name="Google Shape;88;p1"/>
          <p:cNvSpPr/>
          <p:nvPr/>
        </p:nvSpPr>
        <p:spPr>
          <a:xfrm>
            <a:off x="7756300" y="4226042"/>
            <a:ext cx="1211053" cy="75706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Google Shape;89;p1"/>
          <p:cNvSpPr txBox="1"/>
          <p:nvPr/>
        </p:nvSpPr>
        <p:spPr>
          <a:xfrm>
            <a:off x="2237100" y="527366"/>
            <a:ext cx="4669800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9790"/>
              </a:lnSpc>
              <a:defRPr sz="3000">
                <a:solidFill>
                  <a:srgbClr val="FFFFFF"/>
                </a:solidFill>
              </a:defRPr>
            </a:lvl1pPr>
          </a:lstStyle>
          <a:p>
            <a:pPr/>
            <a:r>
              <a:t>From Zero to Query</a:t>
            </a:r>
          </a:p>
        </p:txBody>
      </p:sp>
      <p:sp>
        <p:nvSpPr>
          <p:cNvPr id="121" name="Google Shape;90;p1"/>
          <p:cNvSpPr txBox="1"/>
          <p:nvPr/>
        </p:nvSpPr>
        <p:spPr>
          <a:xfrm>
            <a:off x="1820099" y="1953592"/>
            <a:ext cx="5503801" cy="87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700">
                <a:solidFill>
                  <a:srgbClr val="FFFFFF"/>
                </a:solidFill>
              </a:defRPr>
            </a:pPr>
            <a:r>
              <a:t>Build, Secure &amp; Deploy a Production-Ready GraphQL API in One Afternoon</a:t>
            </a:r>
            <a:endParaRPr sz="500"/>
          </a:p>
          <a:p>
            <a:pPr algn="ctr">
              <a:defRPr sz="1200">
                <a:solidFill>
                  <a:srgbClr val="C9C9DA"/>
                </a:solidFill>
              </a:defRPr>
            </a:pPr>
            <a:r>
              <a:t>Zeljko Kozina  |  JConf Dominicana 2026</a:t>
            </a:r>
          </a:p>
        </p:txBody>
      </p:sp>
      <p:sp>
        <p:nvSpPr>
          <p:cNvPr id="122" name="Google Shape;91;p1"/>
          <p:cNvSpPr/>
          <p:nvPr/>
        </p:nvSpPr>
        <p:spPr>
          <a:xfrm>
            <a:off x="4036219" y="1618122"/>
            <a:ext cx="1071564" cy="2671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ounded Rectangle 1"/>
          <p:cNvSpPr/>
          <p:nvPr/>
        </p:nvSpPr>
        <p:spPr>
          <a:xfrm>
            <a:off x="731519" y="457200"/>
            <a:ext cx="1737362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"/>
          <p:cNvSpPr txBox="1"/>
          <p:nvPr/>
        </p:nvSpPr>
        <p:spPr>
          <a:xfrm>
            <a:off x="777239" y="457199"/>
            <a:ext cx="164592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ABOUT ME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777239" y="932688"/>
            <a:ext cx="5852161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Željko/ʒɛːʎko/Zhelyko/Zhellko/Jelhko</a:t>
            </a:r>
          </a:p>
        </p:txBody>
      </p:sp>
      <p:pic>
        <p:nvPicPr>
          <p:cNvPr id="1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41320" y="469544"/>
            <a:ext cx="512065" cy="341072"/>
          </a:xfrm>
          <a:prstGeom prst="rect">
            <a:avLst/>
          </a:prstGeom>
          <a:ln>
            <a:solidFill>
              <a:srgbClr val="C9C9DA"/>
            </a:solidFill>
          </a:ln>
        </p:spPr>
      </p:pic>
      <p:pic>
        <p:nvPicPr>
          <p:cNvPr id="128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81400" y="469544"/>
            <a:ext cx="512064" cy="341072"/>
          </a:xfrm>
          <a:prstGeom prst="rect">
            <a:avLst/>
          </a:prstGeom>
          <a:ln>
            <a:solidFill>
              <a:srgbClr val="C9C9DA"/>
            </a:solidFill>
          </a:ln>
        </p:spPr>
      </p:pic>
      <p:pic>
        <p:nvPicPr>
          <p:cNvPr id="129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21479" y="469544"/>
            <a:ext cx="512065" cy="341072"/>
          </a:xfrm>
          <a:prstGeom prst="rect">
            <a:avLst/>
          </a:prstGeom>
          <a:ln>
            <a:solidFill>
              <a:srgbClr val="C9C9DA"/>
            </a:solidFill>
          </a:ln>
        </p:spPr>
      </p:pic>
      <p:sp>
        <p:nvSpPr>
          <p:cNvPr id="130" name="Rectangle 7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8"/>
          <p:cNvSpPr txBox="1"/>
          <p:nvPr/>
        </p:nvSpPr>
        <p:spPr>
          <a:xfrm>
            <a:off x="777239" y="1691639"/>
            <a:ext cx="594360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9C9DA"/>
                </a:solidFill>
              </a:defRPr>
            </a:lvl1pPr>
          </a:lstStyle>
          <a:p>
            <a:pPr/>
            <a:r>
              <a:t>Java Developer  |  15+ years in IT  |  GraphQL Ambassador</a:t>
            </a:r>
          </a:p>
        </p:txBody>
      </p:sp>
      <p:sp>
        <p:nvSpPr>
          <p:cNvPr id="132" name="Oval 9"/>
          <p:cNvSpPr/>
          <p:nvPr/>
        </p:nvSpPr>
        <p:spPr>
          <a:xfrm>
            <a:off x="6995159" y="640080"/>
            <a:ext cx="1600201" cy="1600201"/>
          </a:xfrm>
          <a:prstGeom prst="ellipse">
            <a:avLst/>
          </a:prstGeom>
          <a:solidFill>
            <a:srgbClr val="4A4772"/>
          </a:solidFill>
          <a:ln w="25400">
            <a:solidFill>
              <a:srgbClr val="C22035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0"/>
          <p:cNvSpPr txBox="1"/>
          <p:nvPr/>
        </p:nvSpPr>
        <p:spPr>
          <a:xfrm>
            <a:off x="7040879" y="1188719"/>
            <a:ext cx="150876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9C9DA"/>
                </a:solidFill>
              </a:defRPr>
            </a:pPr>
            <a:r>
              <a:t>Your</a:t>
            </a:r>
            <a:br/>
            <a:r>
              <a:t>photo</a:t>
            </a:r>
          </a:p>
        </p:txBody>
      </p:sp>
      <p:sp>
        <p:nvSpPr>
          <p:cNvPr id="134" name="Rounded Rectangle 11"/>
          <p:cNvSpPr/>
          <p:nvPr/>
        </p:nvSpPr>
        <p:spPr>
          <a:xfrm>
            <a:off x="731519" y="2240279"/>
            <a:ext cx="6035042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2"/>
          <p:cNvSpPr txBox="1"/>
          <p:nvPr/>
        </p:nvSpPr>
        <p:spPr>
          <a:xfrm>
            <a:off x="1005839" y="2313432"/>
            <a:ext cx="17373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Day job</a:t>
            </a:r>
          </a:p>
        </p:txBody>
      </p:sp>
      <p:sp>
        <p:nvSpPr>
          <p:cNvPr id="136" name="TextBox 13"/>
          <p:cNvSpPr txBox="1"/>
          <p:nvPr/>
        </p:nvSpPr>
        <p:spPr>
          <a:xfrm>
            <a:off x="1005839" y="2569464"/>
            <a:ext cx="5486402" cy="250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Consultant/contractor, mostly in financial sector.</a:t>
            </a:r>
          </a:p>
        </p:txBody>
      </p:sp>
      <p:sp>
        <p:nvSpPr>
          <p:cNvPr id="137" name="Rounded Rectangle 14"/>
          <p:cNvSpPr/>
          <p:nvPr/>
        </p:nvSpPr>
        <p:spPr>
          <a:xfrm>
            <a:off x="731519" y="3136392"/>
            <a:ext cx="6035042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15"/>
          <p:cNvSpPr txBox="1"/>
          <p:nvPr/>
        </p:nvSpPr>
        <p:spPr>
          <a:xfrm>
            <a:off x="1005839" y="3209544"/>
            <a:ext cx="17373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Side quest</a:t>
            </a:r>
          </a:p>
        </p:txBody>
      </p:sp>
      <p:sp>
        <p:nvSpPr>
          <p:cNvPr id="139" name="TextBox 16"/>
          <p:cNvSpPr txBox="1"/>
          <p:nvPr/>
        </p:nvSpPr>
        <p:spPr>
          <a:xfrm>
            <a:off x="1005839" y="3465576"/>
            <a:ext cx="5486402" cy="250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Maintain quite a few blogs and websites, mostly around APIs</a:t>
            </a:r>
          </a:p>
        </p:txBody>
      </p:sp>
      <p:sp>
        <p:nvSpPr>
          <p:cNvPr id="140" name="Rounded Rectangle 17"/>
          <p:cNvSpPr/>
          <p:nvPr/>
        </p:nvSpPr>
        <p:spPr>
          <a:xfrm>
            <a:off x="731519" y="4032503"/>
            <a:ext cx="6035042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18"/>
          <p:cNvSpPr txBox="1"/>
          <p:nvPr/>
        </p:nvSpPr>
        <p:spPr>
          <a:xfrm>
            <a:off x="1005839" y="4105655"/>
            <a:ext cx="17373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Community</a:t>
            </a:r>
          </a:p>
        </p:txBody>
      </p:sp>
      <p:sp>
        <p:nvSpPr>
          <p:cNvPr id="142" name="TextBox 19"/>
          <p:cNvSpPr txBox="1"/>
          <p:nvPr/>
        </p:nvSpPr>
        <p:spPr>
          <a:xfrm>
            <a:off x="1005839" y="4361688"/>
            <a:ext cx="548640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Speaker/blogger in the Java/JVM ecosystem. 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DubJug member. GraphQL Ammbasador, GraphQL AI Working Group member</a:t>
            </a:r>
          </a:p>
        </p:txBody>
      </p:sp>
      <p:pic>
        <p:nvPicPr>
          <p:cNvPr id="143" name="Picture 20" descr="Picture 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WhatsApp Image 2026-05-01 at 17.25.14.jpeg" descr="WhatsApp Image 2026-05-01 at 17.25.14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75273" y="35549"/>
            <a:ext cx="2217851" cy="31446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8229600" cy="4754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457200"/>
            <a:ext cx="8229600" cy="3840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37160"/>
            <a:ext cx="7315200" cy="48737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 txBox="1"/>
          <p:nvPr/>
        </p:nvSpPr>
        <p:spPr>
          <a:xfrm>
            <a:off x="777239" y="477520"/>
            <a:ext cx="722376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What Are We Actually Solving?</a:t>
            </a:r>
          </a:p>
        </p:txBody>
      </p:sp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5920" y="1828800"/>
            <a:ext cx="1371601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1"/>
          <p:cNvSpPr txBox="1"/>
          <p:nvPr/>
        </p:nvSpPr>
        <p:spPr>
          <a:xfrm>
            <a:off x="1463039" y="3328670"/>
            <a:ext cx="17373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</a:t>
            </a:r>
          </a:p>
        </p:txBody>
      </p:sp>
      <p:pic>
        <p:nvPicPr>
          <p:cNvPr id="15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79" y="1828800"/>
            <a:ext cx="1371601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 2"/>
          <p:cNvSpPr txBox="1"/>
          <p:nvPr/>
        </p:nvSpPr>
        <p:spPr>
          <a:xfrm>
            <a:off x="5943600" y="3328670"/>
            <a:ext cx="17373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57" name="Shape 3"/>
          <p:cNvSpPr/>
          <p:nvPr/>
        </p:nvSpPr>
        <p:spPr>
          <a:xfrm>
            <a:off x="3200400" y="2011679"/>
            <a:ext cx="2743200" cy="82296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Text 4"/>
          <p:cNvSpPr txBox="1"/>
          <p:nvPr/>
        </p:nvSpPr>
        <p:spPr>
          <a:xfrm>
            <a:off x="3886200" y="1101090"/>
            <a:ext cx="1371601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0">
                <a:solidFill>
                  <a:srgbClr val="E1009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Screenshot 2026-05-01 at 17.33.55.png" descr="Screenshot 2026-05-01 at 17.33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855"/>
            <a:ext cx="9144001" cy="47053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 txBox="1"/>
          <p:nvPr/>
        </p:nvSpPr>
        <p:spPr>
          <a:xfrm>
            <a:off x="777239" y="496570"/>
            <a:ext cx="7223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Static Pages - Server Rendered Era</a:t>
            </a:r>
          </a:p>
        </p:txBody>
      </p:sp>
      <p:sp>
        <p:nvSpPr>
          <p:cNvPr id="163" name="Shape 1"/>
          <p:cNvSpPr/>
          <p:nvPr/>
        </p:nvSpPr>
        <p:spPr>
          <a:xfrm>
            <a:off x="548640" y="2103120"/>
            <a:ext cx="1828801" cy="137160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240279"/>
            <a:ext cx="4572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2"/>
          <p:cNvSpPr txBox="1"/>
          <p:nvPr/>
        </p:nvSpPr>
        <p:spPr>
          <a:xfrm>
            <a:off x="594359" y="2778759"/>
            <a:ext cx="173736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Browser</a:t>
            </a:r>
          </a:p>
        </p:txBody>
      </p:sp>
      <p:sp>
        <p:nvSpPr>
          <p:cNvPr id="166" name="Text 3"/>
          <p:cNvSpPr txBox="1"/>
          <p:nvPr/>
        </p:nvSpPr>
        <p:spPr>
          <a:xfrm>
            <a:off x="594359" y="3086907"/>
            <a:ext cx="173736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18096"/>
                </a:solidFill>
              </a:defRPr>
            </a:lvl1pPr>
          </a:lstStyle>
          <a:p>
            <a:pPr/>
            <a:r>
              <a:t>Request page</a:t>
            </a:r>
          </a:p>
        </p:txBody>
      </p:sp>
      <p:pic>
        <p:nvPicPr>
          <p:cNvPr id="16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51760" y="260603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Shape 4"/>
          <p:cNvSpPr/>
          <p:nvPr/>
        </p:nvSpPr>
        <p:spPr>
          <a:xfrm>
            <a:off x="3291840" y="2103120"/>
            <a:ext cx="2560321" cy="137160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51959" y="224027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5"/>
          <p:cNvSpPr txBox="1"/>
          <p:nvPr/>
        </p:nvSpPr>
        <p:spPr>
          <a:xfrm>
            <a:off x="3337560" y="2778759"/>
            <a:ext cx="2468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Server (JSP)</a:t>
            </a:r>
          </a:p>
        </p:txBody>
      </p:sp>
      <p:sp>
        <p:nvSpPr>
          <p:cNvPr id="171" name="Text 6"/>
          <p:cNvSpPr txBox="1"/>
          <p:nvPr/>
        </p:nvSpPr>
        <p:spPr>
          <a:xfrm>
            <a:off x="3337560" y="3086907"/>
            <a:ext cx="24688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18096"/>
                </a:solidFill>
              </a:defRPr>
            </a:lvl1pPr>
          </a:lstStyle>
          <a:p>
            <a:pPr/>
            <a:r>
              <a:t>Query DB + render HTML</a:t>
            </a:r>
          </a:p>
        </p:txBody>
      </p:sp>
      <p:pic>
        <p:nvPicPr>
          <p:cNvPr id="172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79" y="260603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Shape 7"/>
          <p:cNvSpPr/>
          <p:nvPr/>
        </p:nvSpPr>
        <p:spPr>
          <a:xfrm>
            <a:off x="6766559" y="2103120"/>
            <a:ext cx="1828801" cy="137160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4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60919" y="224027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8"/>
          <p:cNvSpPr txBox="1"/>
          <p:nvPr/>
        </p:nvSpPr>
        <p:spPr>
          <a:xfrm>
            <a:off x="6812279" y="2778759"/>
            <a:ext cx="17373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Full HTML Page</a:t>
            </a:r>
          </a:p>
        </p:txBody>
      </p:sp>
      <p:sp>
        <p:nvSpPr>
          <p:cNvPr id="176" name="Text 9"/>
          <p:cNvSpPr txBox="1"/>
          <p:nvPr/>
        </p:nvSpPr>
        <p:spPr>
          <a:xfrm>
            <a:off x="6812279" y="3086907"/>
            <a:ext cx="17373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718096"/>
                </a:solidFill>
              </a:defRPr>
            </a:lvl1pPr>
          </a:lstStyle>
          <a:p>
            <a:pPr/>
            <a:r>
              <a:t>Complete re-render</a:t>
            </a:r>
          </a:p>
        </p:txBody>
      </p:sp>
      <p:sp>
        <p:nvSpPr>
          <p:cNvPr id="177" name="Shape 10"/>
          <p:cNvSpPr/>
          <p:nvPr/>
        </p:nvSpPr>
        <p:spPr>
          <a:xfrm>
            <a:off x="548640" y="3931920"/>
            <a:ext cx="8046720" cy="822961"/>
          </a:xfrm>
          <a:prstGeom prst="roundRect">
            <a:avLst>
              <a:gd name="adj" fmla="val 11111"/>
            </a:avLst>
          </a:prstGeom>
          <a:solidFill>
            <a:srgbClr val="1A1D2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Text 11"/>
          <p:cNvSpPr txBox="1"/>
          <p:nvPr/>
        </p:nvSpPr>
        <p:spPr>
          <a:xfrm>
            <a:off x="960119" y="4198988"/>
            <a:ext cx="7223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Every interaction = full page reload. The server did everything. Simple, but limiting.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/>
        </p:nvSpPr>
        <p:spPr>
          <a:xfrm>
            <a:off x="777239" y="477520"/>
            <a:ext cx="722376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 is the new Oil</a:t>
            </a:r>
          </a:p>
        </p:txBody>
      </p:sp>
      <p:sp>
        <p:nvSpPr>
          <p:cNvPr id="181" name="Shape 1"/>
          <p:cNvSpPr/>
          <p:nvPr/>
        </p:nvSpPr>
        <p:spPr>
          <a:xfrm>
            <a:off x="457200" y="1371600"/>
            <a:ext cx="4023360" cy="2560321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Text 2"/>
          <p:cNvSpPr txBox="1"/>
          <p:nvPr/>
        </p:nvSpPr>
        <p:spPr>
          <a:xfrm>
            <a:off x="685800" y="1479549"/>
            <a:ext cx="35661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Separation</a:t>
            </a:r>
          </a:p>
        </p:txBody>
      </p:sp>
      <p:sp>
        <p:nvSpPr>
          <p:cNvPr id="183" name="Text 3"/>
          <p:cNvSpPr txBox="1"/>
          <p:nvPr/>
        </p:nvSpPr>
        <p:spPr>
          <a:xfrm>
            <a:off x="868680" y="2246790"/>
            <a:ext cx="3383280" cy="80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718096"/>
                </a:solidFill>
              </a:defRPr>
            </a:pPr>
            <a:r>
              <a:t>HTML/CSS/JS handles presentation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718096"/>
                </a:solidFill>
              </a:defRPr>
            </a:pPr>
            <a:r>
              <a:t>REST APIs handle data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718096"/>
                </a:solidFill>
              </a:defRPr>
            </a:pPr>
            <a:r>
              <a:t>AJAX enables partial page updates</a:t>
            </a:r>
          </a:p>
        </p:txBody>
      </p:sp>
      <p:sp>
        <p:nvSpPr>
          <p:cNvPr id="184" name="Shape 4"/>
          <p:cNvSpPr/>
          <p:nvPr/>
        </p:nvSpPr>
        <p:spPr>
          <a:xfrm>
            <a:off x="4663440" y="1371600"/>
            <a:ext cx="4023360" cy="2560321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" name="Text 5"/>
          <p:cNvSpPr txBox="1"/>
          <p:nvPr/>
        </p:nvSpPr>
        <p:spPr>
          <a:xfrm>
            <a:off x="4892040" y="1492249"/>
            <a:ext cx="35661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ED893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REST Calls Per Page Load</a:t>
            </a:r>
          </a:p>
        </p:txBody>
      </p:sp>
      <p:sp>
        <p:nvSpPr>
          <p:cNvPr id="186" name="Shape 6"/>
          <p:cNvSpPr/>
          <p:nvPr/>
        </p:nvSpPr>
        <p:spPr>
          <a:xfrm>
            <a:off x="5120640" y="1783079"/>
            <a:ext cx="36577" cy="2011680"/>
          </a:xfrm>
          <a:prstGeom prst="rect">
            <a:avLst/>
          </a:prstGeom>
          <a:solidFill>
            <a:srgbClr val="71809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Shape 7"/>
          <p:cNvSpPr/>
          <p:nvPr/>
        </p:nvSpPr>
        <p:spPr>
          <a:xfrm>
            <a:off x="5120640" y="3758184"/>
            <a:ext cx="3200401" cy="36577"/>
          </a:xfrm>
          <a:prstGeom prst="rect">
            <a:avLst/>
          </a:prstGeom>
          <a:solidFill>
            <a:srgbClr val="71809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Shape 8"/>
          <p:cNvSpPr/>
          <p:nvPr/>
        </p:nvSpPr>
        <p:spPr>
          <a:xfrm rot="21384675">
            <a:off x="5212079" y="3689603"/>
            <a:ext cx="149486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Shape 9"/>
          <p:cNvSpPr/>
          <p:nvPr/>
        </p:nvSpPr>
        <p:spPr>
          <a:xfrm rot="21069080">
            <a:off x="5361271" y="3680247"/>
            <a:ext cx="150990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Shape 10"/>
          <p:cNvSpPr/>
          <p:nvPr/>
        </p:nvSpPr>
        <p:spPr>
          <a:xfrm rot="20807443">
            <a:off x="5510462" y="3657020"/>
            <a:ext cx="153247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1" name="Shape 11"/>
          <p:cNvSpPr/>
          <p:nvPr/>
        </p:nvSpPr>
        <p:spPr>
          <a:xfrm rot="20574809">
            <a:off x="5659654" y="3622002"/>
            <a:ext cx="156082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2" name="Shape 12"/>
          <p:cNvSpPr/>
          <p:nvPr/>
        </p:nvSpPr>
        <p:spPr>
          <a:xfrm rot="20363882">
            <a:off x="5808845" y="3576144"/>
            <a:ext cx="159386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Shape 13"/>
          <p:cNvSpPr/>
          <p:nvPr/>
        </p:nvSpPr>
        <p:spPr>
          <a:xfrm rot="20170931">
            <a:off x="5958037" y="3520061"/>
            <a:ext cx="163081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Shape 14"/>
          <p:cNvSpPr/>
          <p:nvPr/>
        </p:nvSpPr>
        <p:spPr>
          <a:xfrm rot="19993544">
            <a:off x="6107229" y="3454203"/>
            <a:ext cx="167108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Shape 15"/>
          <p:cNvSpPr/>
          <p:nvPr/>
        </p:nvSpPr>
        <p:spPr>
          <a:xfrm rot="19829941">
            <a:off x="6256420" y="3378925"/>
            <a:ext cx="171417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Shape 16"/>
          <p:cNvSpPr/>
          <p:nvPr/>
        </p:nvSpPr>
        <p:spPr>
          <a:xfrm rot="19678693">
            <a:off x="6405612" y="3294514"/>
            <a:ext cx="175966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Shape 17"/>
          <p:cNvSpPr/>
          <p:nvPr/>
        </p:nvSpPr>
        <p:spPr>
          <a:xfrm rot="19538584">
            <a:off x="6554803" y="3201210"/>
            <a:ext cx="180721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" name="Shape 18"/>
          <p:cNvSpPr/>
          <p:nvPr/>
        </p:nvSpPr>
        <p:spPr>
          <a:xfrm rot="19408568">
            <a:off x="6703996" y="3099220"/>
            <a:ext cx="185653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Shape 19"/>
          <p:cNvSpPr/>
          <p:nvPr/>
        </p:nvSpPr>
        <p:spPr>
          <a:xfrm rot="19287713">
            <a:off x="6853187" y="2988729"/>
            <a:ext cx="190736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Shape 20"/>
          <p:cNvSpPr/>
          <p:nvPr/>
        </p:nvSpPr>
        <p:spPr>
          <a:xfrm rot="19175189">
            <a:off x="7002378" y="2869894"/>
            <a:ext cx="195949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Shape 21"/>
          <p:cNvSpPr/>
          <p:nvPr/>
        </p:nvSpPr>
        <p:spPr>
          <a:xfrm rot="19070253">
            <a:off x="7151571" y="2742862"/>
            <a:ext cx="201273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Shape 22"/>
          <p:cNvSpPr/>
          <p:nvPr/>
        </p:nvSpPr>
        <p:spPr>
          <a:xfrm rot="18972241">
            <a:off x="7300762" y="2607760"/>
            <a:ext cx="206692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Shape 23"/>
          <p:cNvSpPr/>
          <p:nvPr/>
        </p:nvSpPr>
        <p:spPr>
          <a:xfrm rot="18880547">
            <a:off x="7449953" y="2464711"/>
            <a:ext cx="212194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Shape 24"/>
          <p:cNvSpPr/>
          <p:nvPr/>
        </p:nvSpPr>
        <p:spPr>
          <a:xfrm rot="18794636">
            <a:off x="7599144" y="2313821"/>
            <a:ext cx="217765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Shape 25"/>
          <p:cNvSpPr/>
          <p:nvPr/>
        </p:nvSpPr>
        <p:spPr>
          <a:xfrm rot="18714016">
            <a:off x="7748337" y="2155193"/>
            <a:ext cx="223395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Shape 26"/>
          <p:cNvSpPr/>
          <p:nvPr/>
        </p:nvSpPr>
        <p:spPr>
          <a:xfrm rot="18638253">
            <a:off x="7897528" y="1988917"/>
            <a:ext cx="229078" cy="32005"/>
          </a:xfrm>
          <a:prstGeom prst="rect">
            <a:avLst/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" name="Shape 27"/>
          <p:cNvSpPr/>
          <p:nvPr/>
        </p:nvSpPr>
        <p:spPr>
          <a:xfrm rot="18900000">
            <a:off x="7247823" y="1620516"/>
            <a:ext cx="822961" cy="3200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3E3E">
              <a:alpha val="6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Text 28"/>
          <p:cNvSpPr txBox="1"/>
          <p:nvPr/>
        </p:nvSpPr>
        <p:spPr>
          <a:xfrm>
            <a:off x="777240" y="4107548"/>
            <a:ext cx="7589520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>
                <a:solidFill>
                  <a:srgbClr val="2D3748"/>
                </a:solidFill>
              </a:defRPr>
            </a:lvl1pPr>
          </a:lstStyle>
          <a:p>
            <a:pPr/>
            <a:r>
              <a:t>More APIs, more endpoints, more calls per page.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777239" y="477520"/>
            <a:ext cx="722376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Search for Solutions</a:t>
            </a:r>
          </a:p>
        </p:txBody>
      </p:sp>
      <p:sp>
        <p:nvSpPr>
          <p:cNvPr id="213" name="Shape 1"/>
          <p:cNvSpPr/>
          <p:nvPr/>
        </p:nvSpPr>
        <p:spPr>
          <a:xfrm>
            <a:off x="274320" y="1108710"/>
            <a:ext cx="2697480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" name="Shape 2"/>
          <p:cNvSpPr/>
          <p:nvPr/>
        </p:nvSpPr>
        <p:spPr>
          <a:xfrm>
            <a:off x="384047" y="1245869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Text 3"/>
          <p:cNvSpPr txBox="1"/>
          <p:nvPr/>
        </p:nvSpPr>
        <p:spPr>
          <a:xfrm>
            <a:off x="566927" y="1232662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Microsoft</a:t>
            </a:r>
          </a:p>
        </p:txBody>
      </p:sp>
      <p:sp>
        <p:nvSpPr>
          <p:cNvPr id="216" name="Text 4"/>
          <p:cNvSpPr txBox="1"/>
          <p:nvPr/>
        </p:nvSpPr>
        <p:spPr>
          <a:xfrm>
            <a:off x="566927" y="1422399"/>
            <a:ext cx="164592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OData</a:t>
            </a:r>
          </a:p>
        </p:txBody>
      </p:sp>
      <p:sp>
        <p:nvSpPr>
          <p:cNvPr id="217" name="Shape 5"/>
          <p:cNvSpPr/>
          <p:nvPr/>
        </p:nvSpPr>
        <p:spPr>
          <a:xfrm>
            <a:off x="2103120" y="1200150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4A90D9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Text 6"/>
          <p:cNvSpPr txBox="1"/>
          <p:nvPr/>
        </p:nvSpPr>
        <p:spPr>
          <a:xfrm>
            <a:off x="2148840" y="1228090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90D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2007</a:t>
            </a:r>
          </a:p>
        </p:txBody>
      </p:sp>
      <p:sp>
        <p:nvSpPr>
          <p:cNvPr id="219" name="Text 7"/>
          <p:cNvSpPr txBox="1"/>
          <p:nvPr/>
        </p:nvSpPr>
        <p:spPr>
          <a:xfrm>
            <a:off x="566928" y="2068367"/>
            <a:ext cx="224028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Standardized query language for REST.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Filtering, pagination, expansion.</a:t>
            </a:r>
          </a:p>
        </p:txBody>
      </p:sp>
      <p:sp>
        <p:nvSpPr>
          <p:cNvPr id="220" name="Shape 8"/>
          <p:cNvSpPr/>
          <p:nvPr/>
        </p:nvSpPr>
        <p:spPr>
          <a:xfrm>
            <a:off x="3190774" y="2971800"/>
            <a:ext cx="269748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Shape 9"/>
          <p:cNvSpPr/>
          <p:nvPr/>
        </p:nvSpPr>
        <p:spPr>
          <a:xfrm>
            <a:off x="3300502" y="3108960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E53E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2" name="Text 10"/>
          <p:cNvSpPr txBox="1"/>
          <p:nvPr/>
        </p:nvSpPr>
        <p:spPr>
          <a:xfrm>
            <a:off x="3483382" y="3095752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Netflix</a:t>
            </a:r>
          </a:p>
        </p:txBody>
      </p:sp>
      <p:sp>
        <p:nvSpPr>
          <p:cNvPr id="223" name="Text 11"/>
          <p:cNvSpPr txBox="1"/>
          <p:nvPr/>
        </p:nvSpPr>
        <p:spPr>
          <a:xfrm>
            <a:off x="3483382" y="3285490"/>
            <a:ext cx="16459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Falcor</a:t>
            </a:r>
          </a:p>
        </p:txBody>
      </p:sp>
      <p:sp>
        <p:nvSpPr>
          <p:cNvPr id="224" name="Shape 12"/>
          <p:cNvSpPr/>
          <p:nvPr/>
        </p:nvSpPr>
        <p:spPr>
          <a:xfrm>
            <a:off x="5019574" y="3063239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E53E3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5" name="Text 13"/>
          <p:cNvSpPr txBox="1"/>
          <p:nvPr/>
        </p:nvSpPr>
        <p:spPr>
          <a:xfrm>
            <a:off x="5065294" y="3091179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2013</a:t>
            </a:r>
          </a:p>
        </p:txBody>
      </p:sp>
      <p:sp>
        <p:nvSpPr>
          <p:cNvPr id="226" name="Text 14"/>
          <p:cNvSpPr txBox="1"/>
          <p:nvPr/>
        </p:nvSpPr>
        <p:spPr>
          <a:xfrm>
            <a:off x="3483382" y="3861607"/>
            <a:ext cx="224028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JSON Graph protocol. Single virtual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JSON resource. Later replaced by GraphQL.</a:t>
            </a:r>
          </a:p>
        </p:txBody>
      </p:sp>
      <p:sp>
        <p:nvSpPr>
          <p:cNvPr id="227" name="Shape 15"/>
          <p:cNvSpPr/>
          <p:nvPr/>
        </p:nvSpPr>
        <p:spPr>
          <a:xfrm>
            <a:off x="6126479" y="1097280"/>
            <a:ext cx="269748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8" name="Shape 16"/>
          <p:cNvSpPr/>
          <p:nvPr/>
        </p:nvSpPr>
        <p:spPr>
          <a:xfrm>
            <a:off x="6236208" y="1234439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ED893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9" name="Text 17"/>
          <p:cNvSpPr txBox="1"/>
          <p:nvPr/>
        </p:nvSpPr>
        <p:spPr>
          <a:xfrm>
            <a:off x="6419088" y="1221232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Many teams</a:t>
            </a:r>
          </a:p>
        </p:txBody>
      </p:sp>
      <p:sp>
        <p:nvSpPr>
          <p:cNvPr id="230" name="Text 18"/>
          <p:cNvSpPr txBox="1"/>
          <p:nvPr/>
        </p:nvSpPr>
        <p:spPr>
          <a:xfrm>
            <a:off x="6419088" y="1410969"/>
            <a:ext cx="16459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BFF Pattern</a:t>
            </a:r>
          </a:p>
        </p:txBody>
      </p:sp>
      <p:sp>
        <p:nvSpPr>
          <p:cNvPr id="231" name="Shape 19"/>
          <p:cNvSpPr/>
          <p:nvPr/>
        </p:nvSpPr>
        <p:spPr>
          <a:xfrm>
            <a:off x="7955280" y="1188719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ED8936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 20"/>
          <p:cNvSpPr txBox="1"/>
          <p:nvPr/>
        </p:nvSpPr>
        <p:spPr>
          <a:xfrm>
            <a:off x="8001000" y="1216660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ED893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33" name="Text 21"/>
          <p:cNvSpPr txBox="1"/>
          <p:nvPr/>
        </p:nvSpPr>
        <p:spPr>
          <a:xfrm>
            <a:off x="6419088" y="2056937"/>
            <a:ext cx="224028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Dedicated API layer per client type.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Works, but doubles maintenance.</a:t>
            </a:r>
          </a:p>
        </p:txBody>
      </p:sp>
      <p:sp>
        <p:nvSpPr>
          <p:cNvPr id="234" name="Shape 22"/>
          <p:cNvSpPr/>
          <p:nvPr/>
        </p:nvSpPr>
        <p:spPr>
          <a:xfrm>
            <a:off x="3186684" y="1085850"/>
            <a:ext cx="269748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Shape 23"/>
          <p:cNvSpPr/>
          <p:nvPr/>
        </p:nvSpPr>
        <p:spPr>
          <a:xfrm>
            <a:off x="3296411" y="1223010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31979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6" name="Text 24"/>
          <p:cNvSpPr txBox="1"/>
          <p:nvPr/>
        </p:nvSpPr>
        <p:spPr>
          <a:xfrm>
            <a:off x="3479291" y="1209801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IETF / Community</a:t>
            </a:r>
          </a:p>
        </p:txBody>
      </p:sp>
      <p:sp>
        <p:nvSpPr>
          <p:cNvPr id="237" name="Text 25"/>
          <p:cNvSpPr txBox="1"/>
          <p:nvPr/>
        </p:nvSpPr>
        <p:spPr>
          <a:xfrm>
            <a:off x="3479291" y="1399540"/>
            <a:ext cx="16459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JSON:API</a:t>
            </a:r>
          </a:p>
        </p:txBody>
      </p:sp>
      <p:sp>
        <p:nvSpPr>
          <p:cNvPr id="238" name="Shape 26"/>
          <p:cNvSpPr/>
          <p:nvPr/>
        </p:nvSpPr>
        <p:spPr>
          <a:xfrm>
            <a:off x="5015484" y="1177289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319795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Text 27"/>
          <p:cNvSpPr txBox="1"/>
          <p:nvPr/>
        </p:nvSpPr>
        <p:spPr>
          <a:xfrm>
            <a:off x="5061204" y="1205229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31979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2013</a:t>
            </a:r>
          </a:p>
        </p:txBody>
      </p:sp>
      <p:sp>
        <p:nvSpPr>
          <p:cNvPr id="240" name="Text 28"/>
          <p:cNvSpPr txBox="1"/>
          <p:nvPr/>
        </p:nvSpPr>
        <p:spPr>
          <a:xfrm>
            <a:off x="3479292" y="2045507"/>
            <a:ext cx="224028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Spec for building JSON APIs with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sparse fieldsets and compound docs.</a:t>
            </a:r>
          </a:p>
        </p:txBody>
      </p:sp>
      <p:sp>
        <p:nvSpPr>
          <p:cNvPr id="241" name="Shape 29"/>
          <p:cNvSpPr/>
          <p:nvPr/>
        </p:nvSpPr>
        <p:spPr>
          <a:xfrm>
            <a:off x="264694" y="2971800"/>
            <a:ext cx="269748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Shape 30"/>
          <p:cNvSpPr/>
          <p:nvPr/>
        </p:nvSpPr>
        <p:spPr>
          <a:xfrm>
            <a:off x="374422" y="3108960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9B59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Text 31"/>
          <p:cNvSpPr txBox="1"/>
          <p:nvPr/>
        </p:nvSpPr>
        <p:spPr>
          <a:xfrm>
            <a:off x="557302" y="3095751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Ad-hoc / Custom</a:t>
            </a:r>
          </a:p>
        </p:txBody>
      </p:sp>
      <p:sp>
        <p:nvSpPr>
          <p:cNvPr id="244" name="Text 32"/>
          <p:cNvSpPr txBox="1"/>
          <p:nvPr/>
        </p:nvSpPr>
        <p:spPr>
          <a:xfrm>
            <a:off x="557302" y="3164840"/>
            <a:ext cx="164592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?expand &amp; ?fields</a:t>
            </a:r>
          </a:p>
        </p:txBody>
      </p:sp>
      <p:sp>
        <p:nvSpPr>
          <p:cNvPr id="245" name="Shape 33"/>
          <p:cNvSpPr/>
          <p:nvPr/>
        </p:nvSpPr>
        <p:spPr>
          <a:xfrm>
            <a:off x="2093494" y="3063239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9B59B6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Text 34"/>
          <p:cNvSpPr txBox="1"/>
          <p:nvPr/>
        </p:nvSpPr>
        <p:spPr>
          <a:xfrm>
            <a:off x="2139214" y="3091179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9B59B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47" name="Text 35"/>
          <p:cNvSpPr txBox="1"/>
          <p:nvPr/>
        </p:nvSpPr>
        <p:spPr>
          <a:xfrm>
            <a:off x="557302" y="3931457"/>
            <a:ext cx="224028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Custom query params to include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relations and filter fields. DIY GraphQL.</a:t>
            </a:r>
          </a:p>
        </p:txBody>
      </p:sp>
      <p:sp>
        <p:nvSpPr>
          <p:cNvPr id="248" name="Shape 36"/>
          <p:cNvSpPr/>
          <p:nvPr/>
        </p:nvSpPr>
        <p:spPr>
          <a:xfrm>
            <a:off x="6126479" y="2971800"/>
            <a:ext cx="269748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Shape 37"/>
          <p:cNvSpPr/>
          <p:nvPr/>
        </p:nvSpPr>
        <p:spPr>
          <a:xfrm>
            <a:off x="6236208" y="3108960"/>
            <a:ext cx="64009" cy="1325881"/>
          </a:xfrm>
          <a:prstGeom prst="roundRect">
            <a:avLst>
              <a:gd name="adj" fmla="val 42857"/>
            </a:avLst>
          </a:prstGeom>
          <a:solidFill>
            <a:srgbClr val="E10098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Text 38"/>
          <p:cNvSpPr txBox="1"/>
          <p:nvPr/>
        </p:nvSpPr>
        <p:spPr>
          <a:xfrm>
            <a:off x="6419088" y="3095751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18096"/>
                </a:solidFill>
              </a:defRPr>
            </a:lvl1pPr>
          </a:lstStyle>
          <a:p>
            <a:pPr/>
            <a:r>
              <a:t>Facebook</a:t>
            </a:r>
          </a:p>
        </p:txBody>
      </p:sp>
      <p:sp>
        <p:nvSpPr>
          <p:cNvPr id="251" name="Text 39"/>
          <p:cNvSpPr txBox="1"/>
          <p:nvPr/>
        </p:nvSpPr>
        <p:spPr>
          <a:xfrm>
            <a:off x="6419088" y="3285490"/>
            <a:ext cx="16459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D374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252" name="Shape 40"/>
          <p:cNvSpPr/>
          <p:nvPr/>
        </p:nvSpPr>
        <p:spPr>
          <a:xfrm>
            <a:off x="7955280" y="3063239"/>
            <a:ext cx="731521" cy="274321"/>
          </a:xfrm>
          <a:prstGeom prst="roundRect">
            <a:avLst>
              <a:gd name="adj" fmla="val 13333"/>
            </a:avLst>
          </a:prstGeom>
          <a:solidFill>
            <a:srgbClr val="E10098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Text 41"/>
          <p:cNvSpPr txBox="1"/>
          <p:nvPr/>
        </p:nvSpPr>
        <p:spPr>
          <a:xfrm>
            <a:off x="8001000" y="3091179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E1009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2012</a:t>
            </a:r>
          </a:p>
        </p:txBody>
      </p:sp>
      <p:sp>
        <p:nvSpPr>
          <p:cNvPr id="254" name="Text 42"/>
          <p:cNvSpPr txBox="1"/>
          <p:nvPr/>
        </p:nvSpPr>
        <p:spPr>
          <a:xfrm>
            <a:off x="6419088" y="3931457"/>
            <a:ext cx="224028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Client-driven queries. Ask for exactly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what you need. One endpoint.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 txBox="1"/>
          <p:nvPr/>
        </p:nvSpPr>
        <p:spPr>
          <a:xfrm>
            <a:off x="502919" y="1051560"/>
            <a:ext cx="8138162" cy="1343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4400">
                <a:solidFill>
                  <a:srgbClr val="E10098"/>
                </a:solidFill>
              </a:defRPr>
            </a:pPr>
            <a:r>
              <a:t>Graph</a:t>
            </a:r>
            <a:r>
              <a:rPr>
                <a:solidFill>
                  <a:srgbClr val="FFFFFF"/>
                </a:solidFill>
              </a:rPr>
              <a:t> </a:t>
            </a:r>
            <a:r>
              <a:t>Q</a:t>
            </a:r>
            <a:r>
              <a:rPr>
                <a:solidFill>
                  <a:srgbClr val="FFFFFF"/>
                </a:solidFill>
              </a:rPr>
              <a:t>uery</a:t>
            </a:r>
            <a:endParaRPr>
              <a:solidFill>
                <a:srgbClr val="FFFFFF"/>
              </a:solidFill>
            </a:endParaRPr>
          </a:p>
          <a:p>
            <a:pPr algn="ctr">
              <a:defRPr b="1" sz="4400">
                <a:solidFill>
                  <a:srgbClr val="E10098"/>
                </a:solidFill>
              </a:defRPr>
            </a:pPr>
            <a:r>
              <a:t>L</a:t>
            </a:r>
            <a:r>
              <a:rPr>
                <a:solidFill>
                  <a:srgbClr val="FFFFFF"/>
                </a:solidFill>
              </a:rPr>
              <a:t>anguage</a:t>
            </a:r>
          </a:p>
        </p:txBody>
      </p:sp>
      <p:sp>
        <p:nvSpPr>
          <p:cNvPr id="259" name="TextBox 3"/>
          <p:cNvSpPr txBox="1"/>
          <p:nvPr/>
        </p:nvSpPr>
        <p:spPr>
          <a:xfrm>
            <a:off x="502919" y="3657599"/>
            <a:ext cx="8138162" cy="322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900"/>
              </a:lnSpc>
              <a:defRPr>
                <a:solidFill>
                  <a:srgbClr val="C9C9DA"/>
                </a:solidFill>
              </a:defRPr>
            </a:lvl1pPr>
          </a:lstStyle>
          <a:p>
            <a:pPr/>
            <a:r>
              <a:t>A query language for your APIs.</a:t>
            </a:r>
          </a:p>
        </p:txBody>
      </p:sp>
      <p:pic>
        <p:nvPicPr>
          <p:cNvPr id="26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 txBox="1"/>
          <p:nvPr/>
        </p:nvSpPr>
        <p:spPr>
          <a:xfrm>
            <a:off x="777239" y="274320"/>
            <a:ext cx="4937761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The REST Way</a:t>
            </a:r>
          </a:p>
        </p:txBody>
      </p:sp>
      <p:sp>
        <p:nvSpPr>
          <p:cNvPr id="263" name="TextBox 2"/>
          <p:cNvSpPr txBox="1"/>
          <p:nvPr/>
        </p:nvSpPr>
        <p:spPr>
          <a:xfrm>
            <a:off x="777239" y="749808"/>
            <a:ext cx="67665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What REST actually returns vs what you need</a:t>
            </a:r>
          </a:p>
        </p:txBody>
      </p:sp>
      <p:sp>
        <p:nvSpPr>
          <p:cNvPr id="264" name="Rounded Rectangle 3"/>
          <p:cNvSpPr/>
          <p:nvPr/>
        </p:nvSpPr>
        <p:spPr>
          <a:xfrm>
            <a:off x="457200" y="1143000"/>
            <a:ext cx="4206241" cy="265176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4"/>
          <p:cNvSpPr txBox="1"/>
          <p:nvPr/>
        </p:nvSpPr>
        <p:spPr>
          <a:xfrm>
            <a:off x="704087" y="1261871"/>
            <a:ext cx="3712465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 /api/users/42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 "id": 42,</a:t>
            </a:r>
          </a:p>
          <a:p>
            <a:pPr>
              <a:defRPr b="1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"name": "Jane Smith",</a:t>
            </a:r>
          </a:p>
          <a:p>
            <a:pPr>
              <a:defRPr b="1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"email": "jane@company.io",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"passwordHash": "bcrypt$2b...",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"role": "ADMIN", "salary": 95000,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"ssn": "XXX-XX-1234",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"address": { ... },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"preferences": { ... },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"createdAt": "...", "updatedAt": "..." }</a:t>
            </a:r>
          </a:p>
        </p:txBody>
      </p:sp>
      <p:sp>
        <p:nvSpPr>
          <p:cNvPr id="266" name="Rounded Rectangle 5"/>
          <p:cNvSpPr/>
          <p:nvPr/>
        </p:nvSpPr>
        <p:spPr>
          <a:xfrm>
            <a:off x="457200" y="3913632"/>
            <a:ext cx="4206241" cy="347473"/>
          </a:xfrm>
          <a:prstGeom prst="roundRect">
            <a:avLst>
              <a:gd name="adj" fmla="val 16667"/>
            </a:avLst>
          </a:prstGeom>
          <a:solidFill>
            <a:srgbClr val="5A2A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6"/>
          <p:cNvSpPr txBox="1"/>
          <p:nvPr/>
        </p:nvSpPr>
        <p:spPr>
          <a:xfrm>
            <a:off x="667511" y="3941062"/>
            <a:ext cx="384048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09AA5"/>
                </a:solidFill>
              </a:defRPr>
            </a:lvl1pPr>
          </a:lstStyle>
          <a:p>
            <a:pPr/>
            <a:r>
              <a:t>You needed: name, email  (2 of 15+ fields)</a:t>
            </a:r>
          </a:p>
        </p:txBody>
      </p:sp>
      <p:sp>
        <p:nvSpPr>
          <p:cNvPr id="268" name="Rounded Rectangle 7"/>
          <p:cNvSpPr/>
          <p:nvPr/>
        </p:nvSpPr>
        <p:spPr>
          <a:xfrm>
            <a:off x="4846320" y="1143000"/>
            <a:ext cx="4023360" cy="1691640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8"/>
          <p:cNvSpPr txBox="1"/>
          <p:nvPr/>
        </p:nvSpPr>
        <p:spPr>
          <a:xfrm>
            <a:off x="5093208" y="1261871"/>
            <a:ext cx="3529585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 /api/users/42/orders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[{ "id": 101,</a:t>
            </a:r>
          </a:p>
          <a:p>
            <a:pPr>
              <a:defRPr b="1"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"total": 49.99,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"status": "SHIPPED",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"paymentMethod": "visa_4242",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"trackingNumber": ..., ... }]</a:t>
            </a:r>
          </a:p>
        </p:txBody>
      </p:sp>
      <p:sp>
        <p:nvSpPr>
          <p:cNvPr id="270" name="Rounded Rectangle 9"/>
          <p:cNvSpPr/>
          <p:nvPr/>
        </p:nvSpPr>
        <p:spPr>
          <a:xfrm>
            <a:off x="4846320" y="2926079"/>
            <a:ext cx="4023360" cy="347473"/>
          </a:xfrm>
          <a:prstGeom prst="roundRect">
            <a:avLst>
              <a:gd name="adj" fmla="val 16667"/>
            </a:avLst>
          </a:prstGeom>
          <a:solidFill>
            <a:srgbClr val="5A2A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10"/>
          <p:cNvSpPr txBox="1"/>
          <p:nvPr/>
        </p:nvSpPr>
        <p:spPr>
          <a:xfrm>
            <a:off x="5056631" y="2953511"/>
            <a:ext cx="365760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09AA5"/>
                </a:solidFill>
              </a:defRPr>
            </a:lvl1pPr>
          </a:lstStyle>
          <a:p>
            <a:pPr/>
            <a:r>
              <a:t>You needed: id, total</a:t>
            </a:r>
          </a:p>
        </p:txBody>
      </p:sp>
      <p:sp>
        <p:nvSpPr>
          <p:cNvPr id="272" name="Rounded Rectangle 11"/>
          <p:cNvSpPr/>
          <p:nvPr/>
        </p:nvSpPr>
        <p:spPr>
          <a:xfrm>
            <a:off x="4846320" y="3429000"/>
            <a:ext cx="4023360" cy="82296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2"/>
          <p:cNvSpPr txBox="1"/>
          <p:nvPr/>
        </p:nvSpPr>
        <p:spPr>
          <a:xfrm>
            <a:off x="5120640" y="3566159"/>
            <a:ext cx="3566161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4 requests. 4 round trips.</a:t>
            </a:r>
          </a:p>
          <a:p>
            <a:pPr>
              <a:defRPr b="1" sz="1200">
                <a:solidFill>
                  <a:srgbClr val="F09AA5"/>
                </a:solidFill>
              </a:defRPr>
            </a:pPr>
            <a:r>
              <a:t>~5% of the data actually used.</a:t>
            </a:r>
          </a:p>
        </p:txBody>
      </p:sp>
      <p:sp>
        <p:nvSpPr>
          <p:cNvPr id="274" name="Rounded Rectangle 13"/>
          <p:cNvSpPr/>
          <p:nvPr/>
        </p:nvSpPr>
        <p:spPr>
          <a:xfrm>
            <a:off x="457200" y="4407408"/>
            <a:ext cx="8412481" cy="384049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14"/>
          <p:cNvSpPr txBox="1"/>
          <p:nvPr/>
        </p:nvSpPr>
        <p:spPr>
          <a:xfrm>
            <a:off x="685800" y="4443984"/>
            <a:ext cx="7955279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9C9DA"/>
                </a:solidFill>
              </a:defRPr>
            </a:lvl1pPr>
          </a:lstStyle>
          <a:p>
            <a:pPr/>
            <a:r>
              <a:t>All you wanted:  "Jane Smith, jane@company.io, 2 orders totaling $128.98"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"/>
          <p:cNvSpPr txBox="1"/>
          <p:nvPr/>
        </p:nvSpPr>
        <p:spPr>
          <a:xfrm>
            <a:off x="777239" y="274320"/>
            <a:ext cx="5394961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GraphQL Core Idea</a:t>
            </a:r>
          </a:p>
        </p:txBody>
      </p:sp>
      <p:sp>
        <p:nvSpPr>
          <p:cNvPr id="278" name="TextBox 2"/>
          <p:cNvSpPr txBox="1"/>
          <p:nvPr/>
        </p:nvSpPr>
        <p:spPr>
          <a:xfrm>
            <a:off x="777240" y="749808"/>
            <a:ext cx="75895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You tell the server what you need. The response mirrors the request.</a:t>
            </a:r>
          </a:p>
        </p:txBody>
      </p:sp>
      <p:sp>
        <p:nvSpPr>
          <p:cNvPr id="279" name="TextBox 3"/>
          <p:cNvSpPr txBox="1"/>
          <p:nvPr/>
        </p:nvSpPr>
        <p:spPr>
          <a:xfrm>
            <a:off x="502919" y="1170432"/>
            <a:ext cx="26517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E10098"/>
                </a:solidFill>
              </a:defRPr>
            </a:lvl1pPr>
          </a:lstStyle>
          <a:p>
            <a:pPr/>
            <a:r>
              <a:t>Request</a:t>
            </a:r>
          </a:p>
        </p:txBody>
      </p:sp>
      <p:sp>
        <p:nvSpPr>
          <p:cNvPr id="280" name="Rounded Rectangle 4"/>
          <p:cNvSpPr/>
          <p:nvPr/>
        </p:nvSpPr>
        <p:spPr>
          <a:xfrm>
            <a:off x="457200" y="1536191"/>
            <a:ext cx="3931921" cy="3108962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5"/>
          <p:cNvSpPr txBox="1"/>
          <p:nvPr/>
        </p:nvSpPr>
        <p:spPr>
          <a:xfrm>
            <a:off x="704087" y="1655064"/>
            <a:ext cx="3438146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{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user(id: 42) {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email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orders {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id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total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82" name="Right Arrow 6"/>
          <p:cNvSpPr/>
          <p:nvPr/>
        </p:nvSpPr>
        <p:spPr>
          <a:xfrm>
            <a:off x="4434840" y="2880360"/>
            <a:ext cx="292609" cy="29260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7"/>
          <p:cNvSpPr txBox="1"/>
          <p:nvPr/>
        </p:nvSpPr>
        <p:spPr>
          <a:xfrm>
            <a:off x="4800599" y="1170432"/>
            <a:ext cx="2651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6DB33F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284" name="Rounded Rectangle 8"/>
          <p:cNvSpPr/>
          <p:nvPr/>
        </p:nvSpPr>
        <p:spPr>
          <a:xfrm>
            <a:off x="4754879" y="1536191"/>
            <a:ext cx="3931921" cy="3108962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9"/>
          <p:cNvSpPr txBox="1"/>
          <p:nvPr/>
        </p:nvSpPr>
        <p:spPr>
          <a:xfrm>
            <a:off x="5001767" y="1655064"/>
            <a:ext cx="343814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"user": {</a:t>
            </a:r>
          </a:p>
          <a:p>
            <a:pPr>
              <a:defRPr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"name": "Jane",</a:t>
            </a:r>
          </a:p>
          <a:p>
            <a:pPr>
              <a:defRPr sz="12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"email": "jane@co",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"orders": [{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"id": 101,</a:t>
            </a:r>
          </a:p>
          <a:p>
            <a:pPr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"total": 49.99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}]</a:t>
            </a:r>
          </a:p>
          <a:p>
            <a:pPr>
              <a:defRPr sz="12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1"/>
          <p:cNvSpPr txBox="1"/>
          <p:nvPr/>
        </p:nvSpPr>
        <p:spPr>
          <a:xfrm>
            <a:off x="777239" y="457199"/>
            <a:ext cx="7772402" cy="473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FFF"/>
                </a:solidFill>
              </a:defRPr>
            </a:lvl1pPr>
          </a:lstStyle>
          <a:p>
            <a:pPr/>
            <a:r>
              <a:t>GraphQL Goes Open Source</a:t>
            </a:r>
          </a:p>
        </p:txBody>
      </p:sp>
      <p:sp>
        <p:nvSpPr>
          <p:cNvPr id="288" name="Rectangle 2"/>
          <p:cNvSpPr/>
          <p:nvPr/>
        </p:nvSpPr>
        <p:spPr>
          <a:xfrm>
            <a:off x="731519" y="1024127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Rounded Rectangle 3"/>
          <p:cNvSpPr/>
          <p:nvPr/>
        </p:nvSpPr>
        <p:spPr>
          <a:xfrm>
            <a:off x="731519" y="1371600"/>
            <a:ext cx="1051562" cy="45720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4"/>
          <p:cNvSpPr txBox="1"/>
          <p:nvPr/>
        </p:nvSpPr>
        <p:spPr>
          <a:xfrm>
            <a:off x="777239" y="1371600"/>
            <a:ext cx="96012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2012</a:t>
            </a:r>
          </a:p>
        </p:txBody>
      </p:sp>
      <p:sp>
        <p:nvSpPr>
          <p:cNvPr id="291" name="Rectangle 5"/>
          <p:cNvSpPr/>
          <p:nvPr/>
        </p:nvSpPr>
        <p:spPr>
          <a:xfrm>
            <a:off x="1216152" y="1828799"/>
            <a:ext cx="45721" cy="411482"/>
          </a:xfrm>
          <a:prstGeom prst="rect">
            <a:avLst/>
          </a:prstGeom>
          <a:solidFill>
            <a:srgbClr val="5552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6"/>
          <p:cNvSpPr txBox="1"/>
          <p:nvPr/>
        </p:nvSpPr>
        <p:spPr>
          <a:xfrm>
            <a:off x="2057399" y="1353311"/>
            <a:ext cx="594360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Created internally at Facebook</a:t>
            </a:r>
          </a:p>
        </p:txBody>
      </p:sp>
      <p:sp>
        <p:nvSpPr>
          <p:cNvPr id="293" name="TextBox 7"/>
          <p:cNvSpPr txBox="1"/>
          <p:nvPr/>
        </p:nvSpPr>
        <p:spPr>
          <a:xfrm>
            <a:off x="2057399" y="1627632"/>
            <a:ext cx="594360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9C9DA"/>
                </a:solidFill>
              </a:defRPr>
            </a:lvl1pPr>
          </a:lstStyle>
          <a:p>
            <a:pPr/>
            <a:r>
              <a:t>Built in Hack (their PHP variant) for the mobile apps</a:t>
            </a:r>
          </a:p>
        </p:txBody>
      </p:sp>
      <p:sp>
        <p:nvSpPr>
          <p:cNvPr id="294" name="Rounded Rectangle 8"/>
          <p:cNvSpPr/>
          <p:nvPr/>
        </p:nvSpPr>
        <p:spPr>
          <a:xfrm>
            <a:off x="731519" y="2240279"/>
            <a:ext cx="1051562" cy="45720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9"/>
          <p:cNvSpPr txBox="1"/>
          <p:nvPr/>
        </p:nvSpPr>
        <p:spPr>
          <a:xfrm>
            <a:off x="777239" y="2240279"/>
            <a:ext cx="96012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2015</a:t>
            </a:r>
          </a:p>
        </p:txBody>
      </p:sp>
      <p:sp>
        <p:nvSpPr>
          <p:cNvPr id="296" name="Rectangle 10"/>
          <p:cNvSpPr/>
          <p:nvPr/>
        </p:nvSpPr>
        <p:spPr>
          <a:xfrm>
            <a:off x="1216152" y="2697479"/>
            <a:ext cx="45721" cy="411481"/>
          </a:xfrm>
          <a:prstGeom prst="rect">
            <a:avLst/>
          </a:prstGeom>
          <a:solidFill>
            <a:srgbClr val="5552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1"/>
          <p:cNvSpPr txBox="1"/>
          <p:nvPr/>
        </p:nvSpPr>
        <p:spPr>
          <a:xfrm>
            <a:off x="2057399" y="2221992"/>
            <a:ext cx="594360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Open-sourced with a specification</a:t>
            </a:r>
          </a:p>
        </p:txBody>
      </p:sp>
      <p:sp>
        <p:nvSpPr>
          <p:cNvPr id="298" name="TextBox 12"/>
          <p:cNvSpPr txBox="1"/>
          <p:nvPr/>
        </p:nvSpPr>
        <p:spPr>
          <a:xfrm>
            <a:off x="2057399" y="2496311"/>
            <a:ext cx="594360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9C9DA"/>
                </a:solidFill>
              </a:defRPr>
            </a:lvl1pPr>
          </a:lstStyle>
          <a:p>
            <a:pPr/>
            <a:r>
              <a:t>Reference implementation: graphql-js (JavaScript)</a:t>
            </a:r>
          </a:p>
        </p:txBody>
      </p:sp>
      <p:sp>
        <p:nvSpPr>
          <p:cNvPr id="299" name="Rounded Rectangle 13"/>
          <p:cNvSpPr/>
          <p:nvPr/>
        </p:nvSpPr>
        <p:spPr>
          <a:xfrm>
            <a:off x="731519" y="3108960"/>
            <a:ext cx="1051562" cy="45720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4"/>
          <p:cNvSpPr txBox="1"/>
          <p:nvPr/>
        </p:nvSpPr>
        <p:spPr>
          <a:xfrm>
            <a:off x="777239" y="3108960"/>
            <a:ext cx="96012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2019</a:t>
            </a:r>
          </a:p>
        </p:txBody>
      </p:sp>
      <p:sp>
        <p:nvSpPr>
          <p:cNvPr id="301" name="Rectangle 15"/>
          <p:cNvSpPr/>
          <p:nvPr/>
        </p:nvSpPr>
        <p:spPr>
          <a:xfrm>
            <a:off x="1216152" y="3566159"/>
            <a:ext cx="45721" cy="411481"/>
          </a:xfrm>
          <a:prstGeom prst="rect">
            <a:avLst/>
          </a:prstGeom>
          <a:solidFill>
            <a:srgbClr val="5552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16"/>
          <p:cNvSpPr txBox="1"/>
          <p:nvPr/>
        </p:nvSpPr>
        <p:spPr>
          <a:xfrm>
            <a:off x="2057399" y="3090672"/>
            <a:ext cx="594360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GraphQL Foundation formed</a:t>
            </a:r>
          </a:p>
        </p:txBody>
      </p:sp>
      <p:sp>
        <p:nvSpPr>
          <p:cNvPr id="303" name="TextBox 17"/>
          <p:cNvSpPr txBox="1"/>
          <p:nvPr/>
        </p:nvSpPr>
        <p:spPr>
          <a:xfrm>
            <a:off x="2057399" y="3364991"/>
            <a:ext cx="594360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9C9DA"/>
                </a:solidFill>
              </a:defRPr>
            </a:lvl1pPr>
          </a:lstStyle>
          <a:p>
            <a:pPr/>
            <a:r>
              <a:t>Under the Linux Foundation. No longer a "Facebook thing"</a:t>
            </a:r>
          </a:p>
        </p:txBody>
      </p:sp>
      <p:sp>
        <p:nvSpPr>
          <p:cNvPr id="304" name="Rounded Rectangle 18"/>
          <p:cNvSpPr/>
          <p:nvPr/>
        </p:nvSpPr>
        <p:spPr>
          <a:xfrm>
            <a:off x="731519" y="3977638"/>
            <a:ext cx="1051562" cy="45720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19"/>
          <p:cNvSpPr txBox="1"/>
          <p:nvPr/>
        </p:nvSpPr>
        <p:spPr>
          <a:xfrm>
            <a:off x="777239" y="3977638"/>
            <a:ext cx="96012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306" name="TextBox 20"/>
          <p:cNvSpPr txBox="1"/>
          <p:nvPr/>
        </p:nvSpPr>
        <p:spPr>
          <a:xfrm>
            <a:off x="2057399" y="3959352"/>
            <a:ext cx="594360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Industry standard</a:t>
            </a:r>
          </a:p>
        </p:txBody>
      </p:sp>
      <p:sp>
        <p:nvSpPr>
          <p:cNvPr id="307" name="TextBox 21"/>
          <p:cNvSpPr txBox="1"/>
          <p:nvPr/>
        </p:nvSpPr>
        <p:spPr>
          <a:xfrm>
            <a:off x="2057399" y="4233671"/>
            <a:ext cx="594360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9C9DA"/>
                </a:solidFill>
              </a:defRPr>
            </a:lvl1pPr>
          </a:lstStyle>
          <a:p>
            <a:pPr/>
            <a:r>
              <a:t>Used by GitHub, Shopify, Airbnb, Yelp, and Netflix</a:t>
            </a:r>
          </a:p>
        </p:txBody>
      </p:sp>
      <p:pic>
        <p:nvPicPr>
          <p:cNvPr id="308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1"/>
          <p:cNvSpPr txBox="1"/>
          <p:nvPr/>
        </p:nvSpPr>
        <p:spPr>
          <a:xfrm>
            <a:off x="777239" y="384047"/>
            <a:ext cx="7772402" cy="473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FFF"/>
                </a:solidFill>
              </a:defRPr>
            </a:lvl1pPr>
          </a:lstStyle>
          <a:p>
            <a:pPr/>
            <a:r>
              <a:t>GraphQL is a Specification</a:t>
            </a:r>
          </a:p>
        </p:txBody>
      </p:sp>
      <p:sp>
        <p:nvSpPr>
          <p:cNvPr id="311" name="Rectangle 2"/>
          <p:cNvSpPr/>
          <p:nvPr/>
        </p:nvSpPr>
        <p:spPr>
          <a:xfrm>
            <a:off x="731519" y="950975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3"/>
          <p:cNvSpPr txBox="1"/>
          <p:nvPr/>
        </p:nvSpPr>
        <p:spPr>
          <a:xfrm>
            <a:off x="777239" y="1024127"/>
            <a:ext cx="72237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Just like Java: a specification with many implementations</a:t>
            </a:r>
          </a:p>
        </p:txBody>
      </p:sp>
      <p:sp>
        <p:nvSpPr>
          <p:cNvPr id="313" name="Rounded Rectangle 4"/>
          <p:cNvSpPr/>
          <p:nvPr/>
        </p:nvSpPr>
        <p:spPr>
          <a:xfrm>
            <a:off x="548640" y="1417319"/>
            <a:ext cx="3931921" cy="3246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Rounded Rectangle 5"/>
          <p:cNvSpPr/>
          <p:nvPr/>
        </p:nvSpPr>
        <p:spPr>
          <a:xfrm>
            <a:off x="548640" y="1417319"/>
            <a:ext cx="3931921" cy="457201"/>
          </a:xfrm>
          <a:prstGeom prst="roundRect">
            <a:avLst>
              <a:gd name="adj" fmla="val 16667"/>
            </a:avLst>
          </a:prstGeom>
          <a:solidFill>
            <a:srgbClr val="E1009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6"/>
          <p:cNvSpPr txBox="1"/>
          <p:nvPr/>
        </p:nvSpPr>
        <p:spPr>
          <a:xfrm>
            <a:off x="594359" y="1417319"/>
            <a:ext cx="3840482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316" name="TextBox 7"/>
          <p:cNvSpPr txBox="1"/>
          <p:nvPr/>
        </p:nvSpPr>
        <p:spPr>
          <a:xfrm>
            <a:off x="822959" y="2011679"/>
            <a:ext cx="338328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Specification</a:t>
            </a:r>
          </a:p>
        </p:txBody>
      </p:sp>
      <p:sp>
        <p:nvSpPr>
          <p:cNvPr id="317" name="TextBox 8"/>
          <p:cNvSpPr txBox="1"/>
          <p:nvPr/>
        </p:nvSpPr>
        <p:spPr>
          <a:xfrm>
            <a:off x="822959" y="2258567"/>
            <a:ext cx="3383282" cy="250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GraphQL Spec (spec.graphql.org)</a:t>
            </a:r>
          </a:p>
        </p:txBody>
      </p:sp>
      <p:sp>
        <p:nvSpPr>
          <p:cNvPr id="318" name="TextBox 9"/>
          <p:cNvSpPr txBox="1"/>
          <p:nvPr/>
        </p:nvSpPr>
        <p:spPr>
          <a:xfrm>
            <a:off x="822959" y="2880360"/>
            <a:ext cx="338328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Reference implementation</a:t>
            </a:r>
          </a:p>
        </p:txBody>
      </p:sp>
      <p:sp>
        <p:nvSpPr>
          <p:cNvPr id="319" name="TextBox 10"/>
          <p:cNvSpPr txBox="1"/>
          <p:nvPr/>
        </p:nvSpPr>
        <p:spPr>
          <a:xfrm>
            <a:off x="822959" y="3127248"/>
            <a:ext cx="3383282" cy="250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graphql-js (JavaScript)</a:t>
            </a:r>
          </a:p>
        </p:txBody>
      </p:sp>
      <p:sp>
        <p:nvSpPr>
          <p:cNvPr id="320" name="TextBox 11"/>
          <p:cNvSpPr txBox="1"/>
          <p:nvPr/>
        </p:nvSpPr>
        <p:spPr>
          <a:xfrm>
            <a:off x="822959" y="3749040"/>
            <a:ext cx="338328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Other implementations</a:t>
            </a:r>
          </a:p>
        </p:txBody>
      </p:sp>
      <p:sp>
        <p:nvSpPr>
          <p:cNvPr id="321" name="TextBox 12"/>
          <p:cNvSpPr txBox="1"/>
          <p:nvPr/>
        </p:nvSpPr>
        <p:spPr>
          <a:xfrm>
            <a:off x="822959" y="3995928"/>
            <a:ext cx="3383282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graphql-java, Apollo Server, Sangria (Scala), Hot Chocolate (.NET)...</a:t>
            </a:r>
          </a:p>
        </p:txBody>
      </p:sp>
      <p:sp>
        <p:nvSpPr>
          <p:cNvPr id="322" name="Rounded Rectangle 13"/>
          <p:cNvSpPr/>
          <p:nvPr/>
        </p:nvSpPr>
        <p:spPr>
          <a:xfrm>
            <a:off x="4663440" y="1417319"/>
            <a:ext cx="3931921" cy="3246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Rounded Rectangle 14"/>
          <p:cNvSpPr/>
          <p:nvPr/>
        </p:nvSpPr>
        <p:spPr>
          <a:xfrm>
            <a:off x="4663440" y="1417319"/>
            <a:ext cx="3931921" cy="457201"/>
          </a:xfrm>
          <a:prstGeom prst="roundRect">
            <a:avLst>
              <a:gd name="adj" fmla="val 16667"/>
            </a:avLst>
          </a:prstGeom>
          <a:solidFill>
            <a:srgbClr val="ED893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15"/>
          <p:cNvSpPr txBox="1"/>
          <p:nvPr/>
        </p:nvSpPr>
        <p:spPr>
          <a:xfrm>
            <a:off x="4709160" y="1417319"/>
            <a:ext cx="384048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Java</a:t>
            </a:r>
          </a:p>
        </p:txBody>
      </p:sp>
      <p:sp>
        <p:nvSpPr>
          <p:cNvPr id="325" name="TextBox 16"/>
          <p:cNvSpPr txBox="1"/>
          <p:nvPr/>
        </p:nvSpPr>
        <p:spPr>
          <a:xfrm>
            <a:off x="4937760" y="2011679"/>
            <a:ext cx="338328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Specification</a:t>
            </a:r>
          </a:p>
        </p:txBody>
      </p:sp>
      <p:sp>
        <p:nvSpPr>
          <p:cNvPr id="326" name="TextBox 17"/>
          <p:cNvSpPr txBox="1"/>
          <p:nvPr/>
        </p:nvSpPr>
        <p:spPr>
          <a:xfrm>
            <a:off x="4937760" y="2258567"/>
            <a:ext cx="3383281" cy="250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JLS (Java Language Specification)</a:t>
            </a:r>
          </a:p>
        </p:txBody>
      </p:sp>
      <p:sp>
        <p:nvSpPr>
          <p:cNvPr id="327" name="TextBox 18"/>
          <p:cNvSpPr txBox="1"/>
          <p:nvPr/>
        </p:nvSpPr>
        <p:spPr>
          <a:xfrm>
            <a:off x="4937760" y="2880360"/>
            <a:ext cx="338328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Reference implementation</a:t>
            </a:r>
          </a:p>
        </p:txBody>
      </p:sp>
      <p:sp>
        <p:nvSpPr>
          <p:cNvPr id="328" name="TextBox 19"/>
          <p:cNvSpPr txBox="1"/>
          <p:nvPr/>
        </p:nvSpPr>
        <p:spPr>
          <a:xfrm>
            <a:off x="4937760" y="3127248"/>
            <a:ext cx="3383281" cy="250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OpenJDK</a:t>
            </a:r>
          </a:p>
        </p:txBody>
      </p:sp>
      <p:sp>
        <p:nvSpPr>
          <p:cNvPr id="329" name="TextBox 20"/>
          <p:cNvSpPr txBox="1"/>
          <p:nvPr/>
        </p:nvSpPr>
        <p:spPr>
          <a:xfrm>
            <a:off x="4937760" y="3749040"/>
            <a:ext cx="338328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1B4E"/>
                </a:solidFill>
              </a:defRPr>
            </a:lvl1pPr>
          </a:lstStyle>
          <a:p>
            <a:pPr/>
            <a:r>
              <a:t>Other implementations</a:t>
            </a:r>
          </a:p>
        </p:txBody>
      </p:sp>
      <p:sp>
        <p:nvSpPr>
          <p:cNvPr id="330" name="TextBox 21"/>
          <p:cNvSpPr txBox="1"/>
          <p:nvPr/>
        </p:nvSpPr>
        <p:spPr>
          <a:xfrm>
            <a:off x="4937760" y="3995928"/>
            <a:ext cx="3383281" cy="250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GraalVM, Eclipse Temurin, Amazon Corretto, Azul Zulu...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 txBox="1"/>
          <p:nvPr/>
        </p:nvSpPr>
        <p:spPr>
          <a:xfrm>
            <a:off x="777239" y="384047"/>
            <a:ext cx="7772402" cy="473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FFF"/>
                </a:solidFill>
              </a:defRPr>
            </a:lvl1pPr>
          </a:lstStyle>
          <a:p>
            <a:pPr/>
            <a:r>
              <a:t>GraphQL on the JVM</a:t>
            </a:r>
          </a:p>
        </p:txBody>
      </p:sp>
      <p:sp>
        <p:nvSpPr>
          <p:cNvPr id="333" name="Rectangle 2"/>
          <p:cNvSpPr/>
          <p:nvPr/>
        </p:nvSpPr>
        <p:spPr>
          <a:xfrm>
            <a:off x="731519" y="950975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3"/>
          <p:cNvSpPr txBox="1"/>
          <p:nvPr/>
        </p:nvSpPr>
        <p:spPr>
          <a:xfrm>
            <a:off x="777239" y="1024127"/>
            <a:ext cx="72237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The community moved fast. Spring took a little longer.</a:t>
            </a:r>
          </a:p>
        </p:txBody>
      </p:sp>
      <p:sp>
        <p:nvSpPr>
          <p:cNvPr id="335" name="Rounded Rectangle 4"/>
          <p:cNvSpPr/>
          <p:nvPr/>
        </p:nvSpPr>
        <p:spPr>
          <a:xfrm>
            <a:off x="548640" y="1417319"/>
            <a:ext cx="2651761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Rounded Rectangle 5"/>
          <p:cNvSpPr/>
          <p:nvPr/>
        </p:nvSpPr>
        <p:spPr>
          <a:xfrm>
            <a:off x="713231" y="1572767"/>
            <a:ext cx="868682" cy="347473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6"/>
          <p:cNvSpPr txBox="1"/>
          <p:nvPr/>
        </p:nvSpPr>
        <p:spPr>
          <a:xfrm>
            <a:off x="758951" y="1572767"/>
            <a:ext cx="77724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2015</a:t>
            </a:r>
          </a:p>
        </p:txBody>
      </p:sp>
      <p:sp>
        <p:nvSpPr>
          <p:cNvPr id="338" name="TextBox 7"/>
          <p:cNvSpPr txBox="1"/>
          <p:nvPr/>
        </p:nvSpPr>
        <p:spPr>
          <a:xfrm>
            <a:off x="758951" y="2057399"/>
            <a:ext cx="2240282" cy="30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b="1">
                <a:solidFill>
                  <a:srgbClr val="221B4E"/>
                </a:solidFill>
              </a:defRPr>
            </a:lvl1pPr>
          </a:lstStyle>
          <a:p>
            <a:pPr/>
            <a:r>
              <a:t>graphql-java</a:t>
            </a:r>
          </a:p>
        </p:txBody>
      </p:sp>
      <p:sp>
        <p:nvSpPr>
          <p:cNvPr id="339" name="TextBox 8"/>
          <p:cNvSpPr txBox="1"/>
          <p:nvPr/>
        </p:nvSpPr>
        <p:spPr>
          <a:xfrm>
            <a:off x="758951" y="2606039"/>
            <a:ext cx="2240282" cy="58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Released the same year as the spec. The JVM's GraphQL engine. Still the foundation of everything.</a:t>
            </a:r>
          </a:p>
        </p:txBody>
      </p:sp>
      <p:sp>
        <p:nvSpPr>
          <p:cNvPr id="340" name="Rounded Rectangle 9"/>
          <p:cNvSpPr/>
          <p:nvPr/>
        </p:nvSpPr>
        <p:spPr>
          <a:xfrm>
            <a:off x="3401567" y="1417319"/>
            <a:ext cx="2651761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Rounded Rectangle 10"/>
          <p:cNvSpPr/>
          <p:nvPr/>
        </p:nvSpPr>
        <p:spPr>
          <a:xfrm>
            <a:off x="3566159" y="1572767"/>
            <a:ext cx="868681" cy="347473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11"/>
          <p:cNvSpPr txBox="1"/>
          <p:nvPr/>
        </p:nvSpPr>
        <p:spPr>
          <a:xfrm>
            <a:off x="3611879" y="1572767"/>
            <a:ext cx="7772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343" name="TextBox 12"/>
          <p:cNvSpPr txBox="1"/>
          <p:nvPr/>
        </p:nvSpPr>
        <p:spPr>
          <a:xfrm>
            <a:off x="3611879" y="2057399"/>
            <a:ext cx="2240281" cy="30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b="1">
                <a:solidFill>
                  <a:srgbClr val="221B4E"/>
                </a:solidFill>
              </a:defRPr>
            </a:lvl1pPr>
          </a:lstStyle>
          <a:p>
            <a:pPr/>
            <a:r>
              <a:t>Netflix DGS</a:t>
            </a:r>
          </a:p>
        </p:txBody>
      </p:sp>
      <p:sp>
        <p:nvSpPr>
          <p:cNvPr id="344" name="TextBox 13"/>
          <p:cNvSpPr txBox="1"/>
          <p:nvPr/>
        </p:nvSpPr>
        <p:spPr>
          <a:xfrm>
            <a:off x="3611879" y="2606039"/>
            <a:ext cx="2240281" cy="58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Netflix open-sources their annotation-driven framework, battle-tested at Netflix scale.</a:t>
            </a:r>
          </a:p>
        </p:txBody>
      </p:sp>
      <p:sp>
        <p:nvSpPr>
          <p:cNvPr id="345" name="Rounded Rectangle 14"/>
          <p:cNvSpPr/>
          <p:nvPr/>
        </p:nvSpPr>
        <p:spPr>
          <a:xfrm>
            <a:off x="6254496" y="1417319"/>
            <a:ext cx="2651761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Rounded Rectangle 15"/>
          <p:cNvSpPr/>
          <p:nvPr/>
        </p:nvSpPr>
        <p:spPr>
          <a:xfrm>
            <a:off x="6419088" y="1572767"/>
            <a:ext cx="868681" cy="347473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16"/>
          <p:cNvSpPr txBox="1"/>
          <p:nvPr/>
        </p:nvSpPr>
        <p:spPr>
          <a:xfrm>
            <a:off x="6464808" y="1572767"/>
            <a:ext cx="7772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2022</a:t>
            </a:r>
          </a:p>
        </p:txBody>
      </p:sp>
      <p:sp>
        <p:nvSpPr>
          <p:cNvPr id="348" name="TextBox 17"/>
          <p:cNvSpPr txBox="1"/>
          <p:nvPr/>
        </p:nvSpPr>
        <p:spPr>
          <a:xfrm>
            <a:off x="6464807" y="2057399"/>
            <a:ext cx="2240282" cy="30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b="1">
                <a:solidFill>
                  <a:srgbClr val="221B4E"/>
                </a:solidFill>
              </a:defRPr>
            </a:lvl1pPr>
          </a:lstStyle>
          <a:p>
            <a:pPr/>
            <a:r>
              <a:t>Spring for GraphQL 1.0</a:t>
            </a:r>
          </a:p>
        </p:txBody>
      </p:sp>
      <p:sp>
        <p:nvSpPr>
          <p:cNvPr id="349" name="TextBox 18"/>
          <p:cNvSpPr txBox="1"/>
          <p:nvPr/>
        </p:nvSpPr>
        <p:spPr>
          <a:xfrm>
            <a:off x="6464807" y="2606039"/>
            <a:ext cx="2240282" cy="415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The official Spring integration goes GA. Spring was late, but did it right.</a:t>
            </a:r>
          </a:p>
        </p:txBody>
      </p:sp>
      <p:sp>
        <p:nvSpPr>
          <p:cNvPr id="350" name="Rounded Rectangle 19"/>
          <p:cNvSpPr/>
          <p:nvPr/>
        </p:nvSpPr>
        <p:spPr>
          <a:xfrm>
            <a:off x="548640" y="3977638"/>
            <a:ext cx="8101584" cy="68580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20"/>
          <p:cNvSpPr txBox="1"/>
          <p:nvPr/>
        </p:nvSpPr>
        <p:spPr>
          <a:xfrm>
            <a:off x="868680" y="4133086"/>
            <a:ext cx="7498079" cy="46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C22035"/>
                </a:solidFill>
              </a:defRPr>
            </a:pPr>
            <a:r>
              <a:t>2024:  </a:t>
            </a:r>
            <a:r>
              <a:rPr>
                <a:solidFill>
                  <a:srgbClr val="FFFFFF"/>
                </a:solidFill>
              </a:rPr>
              <a:t>Netflix announces DGS will converge with Spring for GraphQL. Two frameworks become 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Box 1"/>
          <p:cNvSpPr txBox="1"/>
          <p:nvPr/>
        </p:nvSpPr>
        <p:spPr>
          <a:xfrm>
            <a:off x="777239" y="292608"/>
            <a:ext cx="7772402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Spring for GraphQL Architecture</a:t>
            </a:r>
          </a:p>
        </p:txBody>
      </p:sp>
      <p:sp>
        <p:nvSpPr>
          <p:cNvPr id="354" name="Rounded Rectangle 2"/>
          <p:cNvSpPr/>
          <p:nvPr/>
        </p:nvSpPr>
        <p:spPr>
          <a:xfrm>
            <a:off x="457200" y="914400"/>
            <a:ext cx="8229600" cy="932689"/>
          </a:xfrm>
          <a:prstGeom prst="roundRect">
            <a:avLst>
              <a:gd name="adj" fmla="val 16667"/>
            </a:avLst>
          </a:prstGeom>
          <a:solidFill>
            <a:srgbClr val="2E3F6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3"/>
          <p:cNvSpPr txBox="1"/>
          <p:nvPr/>
        </p:nvSpPr>
        <p:spPr>
          <a:xfrm>
            <a:off x="502919" y="941832"/>
            <a:ext cx="813816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9DC0EF"/>
                </a:solidFill>
              </a:defRPr>
            </a:lvl1pPr>
          </a:lstStyle>
          <a:p>
            <a:pPr/>
            <a:r>
              <a:t>Server Transports</a:t>
            </a:r>
          </a:p>
        </p:txBody>
      </p:sp>
      <p:sp>
        <p:nvSpPr>
          <p:cNvPr id="356" name="Rounded Rectangle 4"/>
          <p:cNvSpPr/>
          <p:nvPr/>
        </p:nvSpPr>
        <p:spPr>
          <a:xfrm>
            <a:off x="868680" y="1252727"/>
            <a:ext cx="2834640" cy="475489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5"/>
          <p:cNvSpPr txBox="1"/>
          <p:nvPr/>
        </p:nvSpPr>
        <p:spPr>
          <a:xfrm>
            <a:off x="914400" y="1252727"/>
            <a:ext cx="274320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HTTP (Spring MVC / WebFlux)</a:t>
            </a:r>
          </a:p>
        </p:txBody>
      </p:sp>
      <p:sp>
        <p:nvSpPr>
          <p:cNvPr id="358" name="Rounded Rectangle 6"/>
          <p:cNvSpPr/>
          <p:nvPr/>
        </p:nvSpPr>
        <p:spPr>
          <a:xfrm>
            <a:off x="3977638" y="1252727"/>
            <a:ext cx="1828801" cy="475489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7"/>
          <p:cNvSpPr txBox="1"/>
          <p:nvPr/>
        </p:nvSpPr>
        <p:spPr>
          <a:xfrm>
            <a:off x="4023358" y="1252727"/>
            <a:ext cx="173736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WebSocket</a:t>
            </a:r>
          </a:p>
        </p:txBody>
      </p:sp>
      <p:sp>
        <p:nvSpPr>
          <p:cNvPr id="360" name="Rounded Rectangle 8"/>
          <p:cNvSpPr/>
          <p:nvPr/>
        </p:nvSpPr>
        <p:spPr>
          <a:xfrm>
            <a:off x="6080759" y="1252727"/>
            <a:ext cx="1828801" cy="475489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9"/>
          <p:cNvSpPr txBox="1"/>
          <p:nvPr/>
        </p:nvSpPr>
        <p:spPr>
          <a:xfrm>
            <a:off x="6126479" y="1252727"/>
            <a:ext cx="173736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RSocket</a:t>
            </a:r>
          </a:p>
        </p:txBody>
      </p:sp>
      <p:sp>
        <p:nvSpPr>
          <p:cNvPr id="362" name="Rectangle 10"/>
          <p:cNvSpPr/>
          <p:nvPr/>
        </p:nvSpPr>
        <p:spPr>
          <a:xfrm>
            <a:off x="4544567" y="1892806"/>
            <a:ext cx="54865" cy="256033"/>
          </a:xfrm>
          <a:prstGeom prst="rect">
            <a:avLst/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Rounded Rectangle 11"/>
          <p:cNvSpPr/>
          <p:nvPr/>
        </p:nvSpPr>
        <p:spPr>
          <a:xfrm>
            <a:off x="1280160" y="2194560"/>
            <a:ext cx="6583681" cy="1828801"/>
          </a:xfrm>
          <a:prstGeom prst="roundRect">
            <a:avLst>
              <a:gd name="adj" fmla="val 16667"/>
            </a:avLst>
          </a:prstGeom>
          <a:solidFill>
            <a:srgbClr val="3E4F3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12"/>
          <p:cNvSpPr txBox="1"/>
          <p:nvPr/>
        </p:nvSpPr>
        <p:spPr>
          <a:xfrm>
            <a:off x="1325879" y="2221992"/>
            <a:ext cx="649224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6DB33F"/>
                </a:solidFill>
              </a:defRPr>
            </a:lvl1pPr>
          </a:lstStyle>
          <a:p>
            <a:pPr/>
            <a:r>
              <a:t>Spring Boot</a:t>
            </a:r>
          </a:p>
        </p:txBody>
      </p:sp>
      <p:sp>
        <p:nvSpPr>
          <p:cNvPr id="365" name="TextBox 13"/>
          <p:cNvSpPr txBox="1"/>
          <p:nvPr/>
        </p:nvSpPr>
        <p:spPr>
          <a:xfrm>
            <a:off x="1325879" y="2441448"/>
            <a:ext cx="649224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Spring GraphQL</a:t>
            </a:r>
          </a:p>
        </p:txBody>
      </p:sp>
      <p:sp>
        <p:nvSpPr>
          <p:cNvPr id="366" name="Rounded Rectangle 14"/>
          <p:cNvSpPr/>
          <p:nvPr/>
        </p:nvSpPr>
        <p:spPr>
          <a:xfrm>
            <a:off x="2743200" y="2724911"/>
            <a:ext cx="3657600" cy="411481"/>
          </a:xfrm>
          <a:prstGeom prst="roundRect">
            <a:avLst>
              <a:gd name="adj" fmla="val 16667"/>
            </a:avLst>
          </a:prstGeom>
          <a:solidFill>
            <a:srgbClr val="6DB33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15"/>
          <p:cNvSpPr txBox="1"/>
          <p:nvPr/>
        </p:nvSpPr>
        <p:spPr>
          <a:xfrm>
            <a:off x="2788919" y="2724911"/>
            <a:ext cx="356616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GraphQL Java Engine</a:t>
            </a:r>
          </a:p>
        </p:txBody>
      </p:sp>
      <p:sp>
        <p:nvSpPr>
          <p:cNvPr id="368" name="Rectangle 16"/>
          <p:cNvSpPr/>
          <p:nvPr/>
        </p:nvSpPr>
        <p:spPr>
          <a:xfrm>
            <a:off x="4544567" y="3154679"/>
            <a:ext cx="54865" cy="182881"/>
          </a:xfrm>
          <a:prstGeom prst="rect">
            <a:avLst/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Rounded Rectangle 17"/>
          <p:cNvSpPr/>
          <p:nvPr/>
        </p:nvSpPr>
        <p:spPr>
          <a:xfrm>
            <a:off x="2194560" y="3364991"/>
            <a:ext cx="4754880" cy="548641"/>
          </a:xfrm>
          <a:prstGeom prst="roundRect">
            <a:avLst>
              <a:gd name="adj" fmla="val 16667"/>
            </a:avLst>
          </a:prstGeom>
          <a:solidFill>
            <a:srgbClr val="6DB33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18"/>
          <p:cNvSpPr txBox="1"/>
          <p:nvPr/>
        </p:nvSpPr>
        <p:spPr>
          <a:xfrm>
            <a:off x="2240280" y="3364991"/>
            <a:ext cx="466344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Data Fetchers:  @QueryMapping   @SchemaMapping   @BatchMapping</a:t>
            </a:r>
          </a:p>
        </p:txBody>
      </p:sp>
      <p:sp>
        <p:nvSpPr>
          <p:cNvPr id="371" name="Rectangle 19"/>
          <p:cNvSpPr/>
          <p:nvPr/>
        </p:nvSpPr>
        <p:spPr>
          <a:xfrm>
            <a:off x="4544567" y="4041647"/>
            <a:ext cx="54865" cy="201169"/>
          </a:xfrm>
          <a:prstGeom prst="rect">
            <a:avLst/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Rounded Rectangle 20"/>
          <p:cNvSpPr/>
          <p:nvPr/>
        </p:nvSpPr>
        <p:spPr>
          <a:xfrm>
            <a:off x="457200" y="4279391"/>
            <a:ext cx="8229600" cy="384049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21"/>
          <p:cNvSpPr txBox="1"/>
          <p:nvPr/>
        </p:nvSpPr>
        <p:spPr>
          <a:xfrm>
            <a:off x="502919" y="4279391"/>
            <a:ext cx="813816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Data Sources:   Database  |  Cache  |  External API  |  Microservice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1"/>
          <p:cNvSpPr txBox="1"/>
          <p:nvPr/>
        </p:nvSpPr>
        <p:spPr>
          <a:xfrm>
            <a:off x="777239" y="274320"/>
            <a:ext cx="6309361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It All Starts with a Schema</a:t>
            </a:r>
          </a:p>
        </p:txBody>
      </p:sp>
      <p:sp>
        <p:nvSpPr>
          <p:cNvPr id="376" name="TextBox 2"/>
          <p:cNvSpPr txBox="1"/>
          <p:nvPr/>
        </p:nvSpPr>
        <p:spPr>
          <a:xfrm>
            <a:off x="777239" y="749808"/>
            <a:ext cx="63093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Written in Schema Definition Language (SDL)</a:t>
            </a:r>
          </a:p>
        </p:txBody>
      </p:sp>
      <p:sp>
        <p:nvSpPr>
          <p:cNvPr id="377" name="Rounded Rectangle 3"/>
          <p:cNvSpPr/>
          <p:nvPr/>
        </p:nvSpPr>
        <p:spPr>
          <a:xfrm>
            <a:off x="457200" y="1170432"/>
            <a:ext cx="4480560" cy="3611880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TextBox 4"/>
          <p:cNvSpPr txBox="1"/>
          <p:nvPr/>
        </p:nvSpPr>
        <p:spPr>
          <a:xfrm>
            <a:off x="704088" y="1289304"/>
            <a:ext cx="3986784" cy="246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Query {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books: [Book!]!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bookById(id: ID!): Book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defRPr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Book {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id: ID!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title: String!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pageCount: Int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author: Author!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defRPr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Author {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id: ID!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name: String!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books: [Book!]!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79" name="Rounded Rectangle 5"/>
          <p:cNvSpPr/>
          <p:nvPr/>
        </p:nvSpPr>
        <p:spPr>
          <a:xfrm>
            <a:off x="5212079" y="1170432"/>
            <a:ext cx="3474721" cy="7863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TextBox 6"/>
          <p:cNvSpPr txBox="1"/>
          <p:nvPr/>
        </p:nvSpPr>
        <p:spPr>
          <a:xfrm>
            <a:off x="5458967" y="1225296"/>
            <a:ext cx="301752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Contract</a:t>
            </a:r>
          </a:p>
        </p:txBody>
      </p:sp>
      <p:sp>
        <p:nvSpPr>
          <p:cNvPr id="381" name="TextBox 7"/>
          <p:cNvSpPr txBox="1"/>
          <p:nvPr/>
        </p:nvSpPr>
        <p:spPr>
          <a:xfrm>
            <a:off x="5458967" y="1490472"/>
            <a:ext cx="3017521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The schema IS the API contract between client and server.</a:t>
            </a:r>
          </a:p>
        </p:txBody>
      </p:sp>
      <p:sp>
        <p:nvSpPr>
          <p:cNvPr id="382" name="Rounded Rectangle 8"/>
          <p:cNvSpPr/>
          <p:nvPr/>
        </p:nvSpPr>
        <p:spPr>
          <a:xfrm>
            <a:off x="5212079" y="2084832"/>
            <a:ext cx="3474721" cy="7863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9"/>
          <p:cNvSpPr txBox="1"/>
          <p:nvPr/>
        </p:nvSpPr>
        <p:spPr>
          <a:xfrm>
            <a:off x="5458967" y="2139695"/>
            <a:ext cx="301752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Type safety</a:t>
            </a:r>
          </a:p>
        </p:txBody>
      </p:sp>
      <p:sp>
        <p:nvSpPr>
          <p:cNvPr id="384" name="TextBox 10"/>
          <p:cNvSpPr txBox="1"/>
          <p:nvPr/>
        </p:nvSpPr>
        <p:spPr>
          <a:xfrm>
            <a:off x="5458967" y="2404872"/>
            <a:ext cx="3017521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Every field has a type. Errors caught at validation, not runtime.</a:t>
            </a:r>
          </a:p>
        </p:txBody>
      </p:sp>
      <p:sp>
        <p:nvSpPr>
          <p:cNvPr id="385" name="Rounded Rectangle 11"/>
          <p:cNvSpPr/>
          <p:nvPr/>
        </p:nvSpPr>
        <p:spPr>
          <a:xfrm>
            <a:off x="5212079" y="2999232"/>
            <a:ext cx="3474721" cy="7863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12"/>
          <p:cNvSpPr txBox="1"/>
          <p:nvPr/>
        </p:nvSpPr>
        <p:spPr>
          <a:xfrm>
            <a:off x="5458967" y="3054095"/>
            <a:ext cx="301752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Documentation</a:t>
            </a:r>
          </a:p>
        </p:txBody>
      </p:sp>
      <p:sp>
        <p:nvSpPr>
          <p:cNvPr id="387" name="TextBox 13"/>
          <p:cNvSpPr txBox="1"/>
          <p:nvPr/>
        </p:nvSpPr>
        <p:spPr>
          <a:xfrm>
            <a:off x="5458967" y="3319271"/>
            <a:ext cx="3017521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Self-documenting. GraphiQL builds an API explorer from it.</a:t>
            </a:r>
          </a:p>
        </p:txBody>
      </p:sp>
      <p:sp>
        <p:nvSpPr>
          <p:cNvPr id="388" name="Rounded Rectangle 14"/>
          <p:cNvSpPr/>
          <p:nvPr/>
        </p:nvSpPr>
        <p:spPr>
          <a:xfrm>
            <a:off x="5212079" y="3913632"/>
            <a:ext cx="3474721" cy="7863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15"/>
          <p:cNvSpPr txBox="1"/>
          <p:nvPr/>
        </p:nvSpPr>
        <p:spPr>
          <a:xfrm>
            <a:off x="5458967" y="3968496"/>
            <a:ext cx="301752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Introspection</a:t>
            </a:r>
          </a:p>
        </p:txBody>
      </p:sp>
      <p:sp>
        <p:nvSpPr>
          <p:cNvPr id="390" name="TextBox 16"/>
          <p:cNvSpPr txBox="1"/>
          <p:nvPr/>
        </p:nvSpPr>
        <p:spPr>
          <a:xfrm>
            <a:off x="5458967" y="4233671"/>
            <a:ext cx="3017521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5A5A6E"/>
                </a:solidFill>
              </a:defRPr>
            </a:lvl1pPr>
          </a:lstStyle>
          <a:p>
            <a:pPr/>
            <a:r>
              <a:t>Clients query the schema itself to discover operations.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91438"/>
            <a:ext cx="8595360" cy="49377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Box 1"/>
          <p:cNvSpPr txBox="1"/>
          <p:nvPr/>
        </p:nvSpPr>
        <p:spPr>
          <a:xfrm>
            <a:off x="777239" y="228600"/>
            <a:ext cx="5394961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GraphQL Federation</a:t>
            </a:r>
          </a:p>
        </p:txBody>
      </p:sp>
      <p:sp>
        <p:nvSpPr>
          <p:cNvPr id="395" name="TextBox 2"/>
          <p:cNvSpPr txBox="1"/>
          <p:nvPr/>
        </p:nvSpPr>
        <p:spPr>
          <a:xfrm>
            <a:off x="777239" y="694944"/>
            <a:ext cx="44805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One graph, many teams</a:t>
            </a:r>
          </a:p>
        </p:txBody>
      </p:sp>
      <p:pic>
        <p:nvPicPr>
          <p:cNvPr id="3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8760" y="1024127"/>
            <a:ext cx="6126480" cy="3447979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Rounded Rectangle 4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TextBox 5"/>
          <p:cNvSpPr txBox="1"/>
          <p:nvPr/>
        </p:nvSpPr>
        <p:spPr>
          <a:xfrm>
            <a:off x="685799" y="4608576"/>
            <a:ext cx="777240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This is what Netflix does. Each team owns its subgraph; the gateway composes one unified API.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731519" y="548640"/>
            <a:ext cx="7680961" cy="4023360"/>
          </a:xfrm>
          <a:prstGeom prst="roundRect">
            <a:avLst>
              <a:gd name="adj" fmla="val 3409"/>
            </a:avLst>
          </a:prstGeom>
          <a:solidFill>
            <a:srgbClr val="24283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3359" y="1463038"/>
            <a:ext cx="1097282" cy="1097282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Text 1"/>
          <p:cNvSpPr txBox="1"/>
          <p:nvPr/>
        </p:nvSpPr>
        <p:spPr>
          <a:xfrm>
            <a:off x="1142999" y="2746524"/>
            <a:ext cx="6858001" cy="541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1600">
                <a:solidFill>
                  <a:srgbClr val="718096"/>
                </a:solidFill>
              </a:defRPr>
            </a:pPr>
            <a:r>
              <a:t>INSERT FUNNY IMAGE: Demo gods, please be kind!</a:t>
            </a:r>
          </a:p>
          <a:p>
            <a:pPr algn="ctr">
              <a:defRPr sz="1600">
                <a:solidFill>
                  <a:srgbClr val="718096"/>
                </a:solidFill>
              </a:defRPr>
            </a:pPr>
            <a:r>
              <a:t>(Live demo starts here)</a:t>
            </a:r>
          </a:p>
        </p:txBody>
      </p:sp>
      <p:sp>
        <p:nvSpPr>
          <p:cNvPr id="403" name="Text 2"/>
          <p:cNvSpPr txBox="1"/>
          <p:nvPr/>
        </p:nvSpPr>
        <p:spPr>
          <a:xfrm>
            <a:off x="777240" y="3492245"/>
            <a:ext cx="7589519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100">
                <a:solidFill>
                  <a:srgbClr val="718096"/>
                </a:solidFill>
              </a:defRPr>
            </a:lvl1pPr>
          </a:lstStyle>
          <a:p>
            <a:pPr/>
            <a:r>
              <a:t>Slide 16 of 23</a:t>
            </a:r>
          </a:p>
        </p:txBody>
      </p:sp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29" y="-2"/>
            <a:ext cx="9139143" cy="51435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1"/>
          <p:cNvSpPr txBox="1"/>
          <p:nvPr/>
        </p:nvSpPr>
        <p:spPr>
          <a:xfrm>
            <a:off x="502919" y="1188719"/>
            <a:ext cx="8138162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407" name="Rectangle 2"/>
          <p:cNvSpPr/>
          <p:nvPr/>
        </p:nvSpPr>
        <p:spPr>
          <a:xfrm>
            <a:off x="3977639" y="2148839"/>
            <a:ext cx="1188720" cy="45721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0791" y="3931920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ounded Rectangle 1"/>
          <p:cNvSpPr/>
          <p:nvPr/>
        </p:nvSpPr>
        <p:spPr>
          <a:xfrm>
            <a:off x="731519" y="457200"/>
            <a:ext cx="2103122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2"/>
          <p:cNvSpPr txBox="1"/>
          <p:nvPr/>
        </p:nvSpPr>
        <p:spPr>
          <a:xfrm>
            <a:off x="777239" y="457199"/>
            <a:ext cx="201168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THE WORKSHOP</a:t>
            </a:r>
          </a:p>
        </p:txBody>
      </p:sp>
      <p:sp>
        <p:nvSpPr>
          <p:cNvPr id="412" name="TextBox 3"/>
          <p:cNvSpPr txBox="1"/>
          <p:nvPr/>
        </p:nvSpPr>
        <p:spPr>
          <a:xfrm>
            <a:off x="777239" y="932688"/>
            <a:ext cx="7772402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FFF"/>
                </a:solidFill>
              </a:defRPr>
            </a:lvl1pPr>
          </a:lstStyle>
          <a:p>
            <a:pPr/>
            <a:r>
              <a:t>What We'll Build: MovieDB</a:t>
            </a:r>
          </a:p>
        </p:txBody>
      </p:sp>
      <p:sp>
        <p:nvSpPr>
          <p:cNvPr id="413" name="Rectangle 4"/>
          <p:cNvSpPr/>
          <p:nvPr/>
        </p:nvSpPr>
        <p:spPr>
          <a:xfrm>
            <a:off x="731519" y="1499616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Oval 5"/>
          <p:cNvSpPr/>
          <p:nvPr/>
        </p:nvSpPr>
        <p:spPr>
          <a:xfrm>
            <a:off x="822960" y="200253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6"/>
          <p:cNvSpPr txBox="1"/>
          <p:nvPr/>
        </p:nvSpPr>
        <p:spPr>
          <a:xfrm>
            <a:off x="1143000" y="1920239"/>
            <a:ext cx="7223761" cy="29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A movie and TV database with people, reviews, watch lists, and search</a:t>
            </a:r>
          </a:p>
        </p:txBody>
      </p:sp>
      <p:sp>
        <p:nvSpPr>
          <p:cNvPr id="416" name="Oval 7"/>
          <p:cNvSpPr/>
          <p:nvPr/>
        </p:nvSpPr>
        <p:spPr>
          <a:xfrm>
            <a:off x="822960" y="2532888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TextBox 8"/>
          <p:cNvSpPr txBox="1"/>
          <p:nvPr/>
        </p:nvSpPr>
        <p:spPr>
          <a:xfrm>
            <a:off x="1143000" y="2450592"/>
            <a:ext cx="7223761" cy="29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Spring Boot scaffolding is already in place: JPA entities, seed data, services, React frontend</a:t>
            </a:r>
          </a:p>
        </p:txBody>
      </p:sp>
      <p:sp>
        <p:nvSpPr>
          <p:cNvPr id="418" name="Oval 9"/>
          <p:cNvSpPr/>
          <p:nvPr/>
        </p:nvSpPr>
        <p:spPr>
          <a:xfrm>
            <a:off x="822960" y="3063238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0"/>
          <p:cNvSpPr txBox="1"/>
          <p:nvPr/>
        </p:nvSpPr>
        <p:spPr>
          <a:xfrm>
            <a:off x="1143000" y="2980944"/>
            <a:ext cx="7223761" cy="29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The GraphQL API is what we add, live, class by class</a:t>
            </a:r>
          </a:p>
        </p:txBody>
      </p:sp>
      <p:sp>
        <p:nvSpPr>
          <p:cNvPr id="420" name="Oval 11"/>
          <p:cNvSpPr/>
          <p:nvPr/>
        </p:nvSpPr>
        <p:spPr>
          <a:xfrm>
            <a:off x="822960" y="3593591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TextBox 12"/>
          <p:cNvSpPr txBox="1"/>
          <p:nvPr/>
        </p:nvSpPr>
        <p:spPr>
          <a:xfrm>
            <a:off x="1143000" y="3511296"/>
            <a:ext cx="7223761" cy="29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Ten classes, each building on the last: from first query to subscriptions</a:t>
            </a:r>
          </a:p>
        </p:txBody>
      </p:sp>
      <p:sp>
        <p:nvSpPr>
          <p:cNvPr id="422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14"/>
          <p:cNvSpPr txBox="1"/>
          <p:nvPr/>
        </p:nvSpPr>
        <p:spPr>
          <a:xfrm>
            <a:off x="1143000" y="4041647"/>
            <a:ext cx="7223761" cy="29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Tech stack: Spring Boot 4 / Spring for GraphQL, Java 21, H2, React + Vite</a:t>
            </a:r>
          </a:p>
        </p:txBody>
      </p:sp>
      <p:pic>
        <p:nvPicPr>
          <p:cNvPr id="424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ounded Rectangle 1"/>
          <p:cNvSpPr/>
          <p:nvPr/>
        </p:nvSpPr>
        <p:spPr>
          <a:xfrm>
            <a:off x="731519" y="457200"/>
            <a:ext cx="146304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2"/>
          <p:cNvSpPr txBox="1"/>
          <p:nvPr/>
        </p:nvSpPr>
        <p:spPr>
          <a:xfrm>
            <a:off x="777239" y="457199"/>
            <a:ext cx="137160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SETUP</a:t>
            </a:r>
          </a:p>
        </p:txBody>
      </p:sp>
      <p:sp>
        <p:nvSpPr>
          <p:cNvPr id="428" name="TextBox 3"/>
          <p:cNvSpPr txBox="1"/>
          <p:nvPr/>
        </p:nvSpPr>
        <p:spPr>
          <a:xfrm>
            <a:off x="777239" y="932688"/>
            <a:ext cx="7772402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FFF"/>
                </a:solidFill>
              </a:defRPr>
            </a:lvl1pPr>
          </a:lstStyle>
          <a:p>
            <a:pPr/>
            <a:r>
              <a:t>Get the Code</a:t>
            </a:r>
          </a:p>
        </p:txBody>
      </p:sp>
      <p:sp>
        <p:nvSpPr>
          <p:cNvPr id="429" name="Rectangle 4"/>
          <p:cNvSpPr/>
          <p:nvPr/>
        </p:nvSpPr>
        <p:spPr>
          <a:xfrm>
            <a:off x="731519" y="1499616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Rounded Rectangle 5"/>
          <p:cNvSpPr/>
          <p:nvPr/>
        </p:nvSpPr>
        <p:spPr>
          <a:xfrm>
            <a:off x="731519" y="1783079"/>
            <a:ext cx="7680961" cy="475489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6"/>
          <p:cNvSpPr txBox="1"/>
          <p:nvPr/>
        </p:nvSpPr>
        <p:spPr>
          <a:xfrm>
            <a:off x="960119" y="1865376"/>
            <a:ext cx="72237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github.com/graphqlguy/graphql-jconfDominicana</a:t>
            </a:r>
          </a:p>
        </p:txBody>
      </p:sp>
      <p:sp>
        <p:nvSpPr>
          <p:cNvPr id="432" name="Oval 7"/>
          <p:cNvSpPr/>
          <p:nvPr/>
        </p:nvSpPr>
        <p:spPr>
          <a:xfrm>
            <a:off x="822960" y="256946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8"/>
          <p:cNvSpPr txBox="1"/>
          <p:nvPr/>
        </p:nvSpPr>
        <p:spPr>
          <a:xfrm>
            <a:off x="1143000" y="2487167"/>
            <a:ext cx="722376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main branch = the starting point (no GraphQL code yet, on purpose)</a:t>
            </a:r>
          </a:p>
        </p:txBody>
      </p:sp>
      <p:sp>
        <p:nvSpPr>
          <p:cNvPr id="434" name="Oval 9"/>
          <p:cNvSpPr/>
          <p:nvPr/>
        </p:nvSpPr>
        <p:spPr>
          <a:xfrm>
            <a:off x="822960" y="2953511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10"/>
          <p:cNvSpPr txBox="1"/>
          <p:nvPr/>
        </p:nvSpPr>
        <p:spPr>
          <a:xfrm>
            <a:off x="1143000" y="2871216"/>
            <a:ext cx="72237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checkpoint_N branches = code at the end of each class, catch up any time</a:t>
            </a:r>
          </a:p>
        </p:txBody>
      </p:sp>
      <p:sp>
        <p:nvSpPr>
          <p:cNvPr id="436" name="Oval 11"/>
          <p:cNvSpPr/>
          <p:nvPr/>
        </p:nvSpPr>
        <p:spPr>
          <a:xfrm>
            <a:off x="822960" y="3337559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TextBox 12"/>
          <p:cNvSpPr txBox="1"/>
          <p:nvPr/>
        </p:nvSpPr>
        <p:spPr>
          <a:xfrm>
            <a:off x="1143000" y="3255264"/>
            <a:ext cx="72237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completed branch = the finished application</a:t>
            </a:r>
          </a:p>
        </p:txBody>
      </p:sp>
      <p:sp>
        <p:nvSpPr>
          <p:cNvPr id="438" name="Oval 13"/>
          <p:cNvSpPr/>
          <p:nvPr/>
        </p:nvSpPr>
        <p:spPr>
          <a:xfrm>
            <a:off x="822960" y="3721608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14"/>
          <p:cNvSpPr txBox="1"/>
          <p:nvPr/>
        </p:nvSpPr>
        <p:spPr>
          <a:xfrm>
            <a:off x="1143000" y="3639311"/>
            <a:ext cx="722376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Backend: ./mvnw spring-boot:run, then GraphiQL at localhost:8080/graphiql</a:t>
            </a:r>
          </a:p>
        </p:txBody>
      </p:sp>
      <p:sp>
        <p:nvSpPr>
          <p:cNvPr id="440" name="Oval 15"/>
          <p:cNvSpPr/>
          <p:nvPr/>
        </p:nvSpPr>
        <p:spPr>
          <a:xfrm>
            <a:off x="822960" y="410565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TextBox 16"/>
          <p:cNvSpPr txBox="1"/>
          <p:nvPr/>
        </p:nvSpPr>
        <p:spPr>
          <a:xfrm>
            <a:off x="1143000" y="4023359"/>
            <a:ext cx="722376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Frontend: cd frontend, npm install, npm run dev, then localhost:5173</a:t>
            </a:r>
          </a:p>
        </p:txBody>
      </p:sp>
      <p:sp>
        <p:nvSpPr>
          <p:cNvPr id="442" name="Oval 17"/>
          <p:cNvSpPr/>
          <p:nvPr/>
        </p:nvSpPr>
        <p:spPr>
          <a:xfrm>
            <a:off x="822960" y="4489703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18"/>
          <p:cNvSpPr txBox="1"/>
          <p:nvPr/>
        </p:nvSpPr>
        <p:spPr>
          <a:xfrm>
            <a:off x="1143000" y="4407408"/>
            <a:ext cx="72237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Seed users: admin / admin123 (ADMIN) and user / user123 (USER)</a:t>
            </a:r>
          </a:p>
        </p:txBody>
      </p:sp>
      <p:pic>
        <p:nvPicPr>
          <p:cNvPr id="444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1 / 10</a:t>
            </a:r>
          </a:p>
        </p:txBody>
      </p:sp>
      <p:sp>
        <p:nvSpPr>
          <p:cNvPr id="448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Your First GraphQL Service</a:t>
            </a:r>
          </a:p>
        </p:txBody>
      </p:sp>
      <p:sp>
        <p:nvSpPr>
          <p:cNvPr id="449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a product owner, I want visitors to browse our film catalogue: filtered, sorted, and paginated.</a:t>
            </a:r>
          </a:p>
        </p:txBody>
      </p:sp>
      <p:sp>
        <p:nvSpPr>
          <p:cNvPr id="451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452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 running GraphQL endpoint with an interactive playground (GraphiQL)</a:t>
            </a:r>
          </a:p>
        </p:txBody>
      </p:sp>
      <p:sp>
        <p:nvSpPr>
          <p:cNvPr id="454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Schema-first development: the schema is the contract, Java implements it</a:t>
            </a:r>
          </a:p>
        </p:txBody>
      </p:sp>
      <p:sp>
        <p:nvSpPr>
          <p:cNvPr id="456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Queries with arguments, default values, and input types</a:t>
            </a:r>
          </a:p>
        </p:txBody>
      </p:sp>
      <p:sp>
        <p:nvSpPr>
          <p:cNvPr id="458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Evolving an API without breaking clients, using @deprecated</a:t>
            </a:r>
          </a:p>
        </p:txBody>
      </p:sp>
      <p:pic>
        <p:nvPicPr>
          <p:cNvPr id="460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1  ·  CONCEPT</a:t>
            </a:r>
          </a:p>
        </p:txBody>
      </p:sp>
      <p:sp>
        <p:nvSpPr>
          <p:cNvPr id="464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Queries: asking for exactly what you need</a:t>
            </a:r>
          </a:p>
        </p:txBody>
      </p:sp>
      <p:sp>
        <p:nvSpPr>
          <p:cNvPr id="465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5"/>
          <p:cNvSpPr txBox="1"/>
          <p:nvPr/>
        </p:nvSpPr>
        <p:spPr>
          <a:xfrm>
            <a:off x="502919" y="1737360"/>
            <a:ext cx="26517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4A90D9"/>
                </a:solidFill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467" name="Rounded Rectangle 6"/>
          <p:cNvSpPr/>
          <p:nvPr/>
        </p:nvSpPr>
        <p:spPr>
          <a:xfrm>
            <a:off x="457200" y="2084831"/>
            <a:ext cx="3931921" cy="182880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TextBox 7"/>
          <p:cNvSpPr txBox="1"/>
          <p:nvPr/>
        </p:nvSpPr>
        <p:spPr>
          <a:xfrm>
            <a:off x="704087" y="2203703"/>
            <a:ext cx="3438146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 /movies?genre=ACTION</a:t>
            </a:r>
          </a:p>
          <a:p>
            <a:pPr>
              <a:defRPr sz="11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defRPr sz="11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fixed response shape</a:t>
            </a:r>
          </a:p>
          <a:p>
            <a:pPr>
              <a:defRPr sz="11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every field, every time</a:t>
            </a:r>
          </a:p>
          <a:p>
            <a:pPr>
              <a:defRPr sz="11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new need = new endpoint</a:t>
            </a:r>
          </a:p>
        </p:txBody>
      </p:sp>
      <p:sp>
        <p:nvSpPr>
          <p:cNvPr id="469" name="TextBox 8"/>
          <p:cNvSpPr txBox="1"/>
          <p:nvPr/>
        </p:nvSpPr>
        <p:spPr>
          <a:xfrm>
            <a:off x="4800599" y="1737360"/>
            <a:ext cx="26517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E10098"/>
                </a:solidFill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470" name="Rounded Rectangle 9"/>
          <p:cNvSpPr/>
          <p:nvPr/>
        </p:nvSpPr>
        <p:spPr>
          <a:xfrm>
            <a:off x="4754879" y="2084831"/>
            <a:ext cx="3931921" cy="182880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10"/>
          <p:cNvSpPr txBox="1"/>
          <p:nvPr/>
        </p:nvSpPr>
        <p:spPr>
          <a:xfrm>
            <a:off x="5001767" y="2203703"/>
            <a:ext cx="3438145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{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movies(genre: ACTION) {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title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releaseYear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472" name="Rounded Rectangle 11"/>
          <p:cNvSpPr/>
          <p:nvPr/>
        </p:nvSpPr>
        <p:spPr>
          <a:xfrm>
            <a:off x="457200" y="4160520"/>
            <a:ext cx="8229600" cy="45720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12"/>
          <p:cNvSpPr txBox="1"/>
          <p:nvPr/>
        </p:nvSpPr>
        <p:spPr>
          <a:xfrm>
            <a:off x="685799" y="4224528"/>
            <a:ext cx="777240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One endpoint. Arguments in the query. The client chooses the fields.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2 / 10</a:t>
            </a:r>
          </a:p>
        </p:txBody>
      </p:sp>
      <p:sp>
        <p:nvSpPr>
          <p:cNvPr id="477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Relationships &amp; Nested Resolution</a:t>
            </a:r>
          </a:p>
        </p:txBody>
      </p:sp>
      <p:sp>
        <p:nvSpPr>
          <p:cNvPr id="478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5"/>
          <p:cNvSpPr txBox="1"/>
          <p:nvPr/>
        </p:nvSpPr>
        <p:spPr>
          <a:xfrm>
            <a:off x="777240" y="1719072"/>
            <a:ext cx="7589520" cy="489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every film connected to its directors and cast, and people connected back to their work.</a:t>
            </a:r>
          </a:p>
        </p:txBody>
      </p:sp>
      <p:sp>
        <p:nvSpPr>
          <p:cNvPr id="480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481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Entity relationships as nested fields in the schema</a:t>
            </a:r>
          </a:p>
        </p:txBody>
      </p:sp>
      <p:sp>
        <p:nvSpPr>
          <p:cNvPr id="483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Default field resolution vs your first @SchemaMapping resolver</a:t>
            </a:r>
          </a:p>
        </p:txBody>
      </p:sp>
      <p:sp>
        <p:nvSpPr>
          <p:cNvPr id="485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Reproduce the N+1 problem, then eliminate it with @BatchMapping</a:t>
            </a:r>
          </a:p>
        </p:txBody>
      </p:sp>
      <p:sp>
        <p:nvSpPr>
          <p:cNvPr id="487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Junction types: relationships that carry data of their own</a:t>
            </a:r>
          </a:p>
        </p:txBody>
      </p:sp>
      <p:pic>
        <p:nvPicPr>
          <p:cNvPr id="489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2  ·  CONCEPT</a:t>
            </a:r>
          </a:p>
        </p:txBody>
      </p:sp>
      <p:sp>
        <p:nvSpPr>
          <p:cNvPr id="493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Nested resolution &amp; the N+1 problem</a:t>
            </a:r>
          </a:p>
        </p:txBody>
      </p:sp>
      <p:sp>
        <p:nvSpPr>
          <p:cNvPr id="494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Rounded Rectangle 5"/>
          <p:cNvSpPr/>
          <p:nvPr/>
        </p:nvSpPr>
        <p:spPr>
          <a:xfrm>
            <a:off x="457200" y="1783079"/>
            <a:ext cx="4023360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Rounded Rectangle 6"/>
          <p:cNvSpPr/>
          <p:nvPr/>
        </p:nvSpPr>
        <p:spPr>
          <a:xfrm>
            <a:off x="457200" y="1783079"/>
            <a:ext cx="4023360" cy="41148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7"/>
          <p:cNvSpPr txBox="1"/>
          <p:nvPr/>
        </p:nvSpPr>
        <p:spPr>
          <a:xfrm>
            <a:off x="502919" y="1783079"/>
            <a:ext cx="393192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Without @BatchMapping</a:t>
            </a:r>
          </a:p>
        </p:txBody>
      </p:sp>
      <p:sp>
        <p:nvSpPr>
          <p:cNvPr id="498" name="TextBox 8"/>
          <p:cNvSpPr txBox="1"/>
          <p:nvPr/>
        </p:nvSpPr>
        <p:spPr>
          <a:xfrm>
            <a:off x="731519" y="2331720"/>
            <a:ext cx="3566162" cy="109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{ movies { directors } }</a:t>
            </a:r>
          </a:p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</a:defRPr>
            </a:pPr>
            <a:r>
              <a:t>1 query for movies</a:t>
            </a:r>
          </a:p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</a:defRPr>
            </a:pPr>
            <a:r>
              <a:t>+ 1 directors query per movie (N)</a:t>
            </a:r>
          </a:p>
          <a:p>
            <a:pPr>
              <a:lnSpc>
                <a:spcPts val="2000"/>
              </a:lnSpc>
              <a:defRPr b="1" sz="1300">
                <a:solidFill>
                  <a:srgbClr val="C22035"/>
                </a:solidFill>
              </a:defRPr>
            </a:pPr>
            <a:r>
              <a:t>Total: 1 + N queries</a:t>
            </a:r>
          </a:p>
        </p:txBody>
      </p:sp>
      <p:sp>
        <p:nvSpPr>
          <p:cNvPr id="499" name="Rounded Rectangle 9"/>
          <p:cNvSpPr/>
          <p:nvPr/>
        </p:nvSpPr>
        <p:spPr>
          <a:xfrm>
            <a:off x="4663440" y="1783079"/>
            <a:ext cx="4023360" cy="2377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Rounded Rectangle 10"/>
          <p:cNvSpPr/>
          <p:nvPr/>
        </p:nvSpPr>
        <p:spPr>
          <a:xfrm>
            <a:off x="4663440" y="1783079"/>
            <a:ext cx="4023360" cy="411481"/>
          </a:xfrm>
          <a:prstGeom prst="roundRect">
            <a:avLst>
              <a:gd name="adj" fmla="val 16667"/>
            </a:avLst>
          </a:prstGeom>
          <a:solidFill>
            <a:srgbClr val="6DB33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TextBox 11"/>
          <p:cNvSpPr txBox="1"/>
          <p:nvPr/>
        </p:nvSpPr>
        <p:spPr>
          <a:xfrm>
            <a:off x="4709160" y="1783079"/>
            <a:ext cx="393192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With @BatchMapping</a:t>
            </a:r>
          </a:p>
        </p:txBody>
      </p:sp>
      <p:sp>
        <p:nvSpPr>
          <p:cNvPr id="502" name="TextBox 12"/>
          <p:cNvSpPr txBox="1"/>
          <p:nvPr/>
        </p:nvSpPr>
        <p:spPr>
          <a:xfrm>
            <a:off x="4937760" y="2331720"/>
            <a:ext cx="3566161" cy="109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</a:defRPr>
            </a:pPr>
            <a:r>
              <a:t>movies collected first, then...</a:t>
            </a:r>
          </a:p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</a:defRPr>
            </a:pPr>
            <a:r>
              <a:t>1 query for movies</a:t>
            </a:r>
          </a:p>
          <a:p>
            <a:pPr>
              <a:lnSpc>
                <a:spcPts val="2000"/>
              </a:lnSpc>
              <a:defRPr sz="1100">
                <a:solidFill>
                  <a:srgbClr val="5A5A6E"/>
                </a:solidFill>
              </a:defRPr>
            </a:pPr>
            <a:r>
              <a:t>1 batched query for all directors</a:t>
            </a:r>
          </a:p>
          <a:p>
            <a:pPr>
              <a:lnSpc>
                <a:spcPts val="2000"/>
              </a:lnSpc>
              <a:defRPr b="1" sz="1300">
                <a:solidFill>
                  <a:srgbClr val="3E7D2E"/>
                </a:solidFill>
              </a:defRPr>
            </a:pPr>
            <a:r>
              <a:t>Total: 2 queries</a:t>
            </a:r>
          </a:p>
        </p:txBody>
      </p:sp>
      <p:sp>
        <p:nvSpPr>
          <p:cNvPr id="503" name="Rounded Rectangle 13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extBox 14"/>
          <p:cNvSpPr txBox="1"/>
          <p:nvPr/>
        </p:nvSpPr>
        <p:spPr>
          <a:xfrm>
            <a:off x="685799" y="4407408"/>
            <a:ext cx="777240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Same schema. Same query. One annotation.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3 / 10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Mutations</a:t>
            </a:r>
          </a:p>
        </p:txBody>
      </p:sp>
      <p:sp>
        <p:nvSpPr>
          <p:cNvPr id="509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my team to add, correct, and remove titles themselves.</a:t>
            </a:r>
          </a:p>
        </p:txBody>
      </p:sp>
      <p:sp>
        <p:nvSpPr>
          <p:cNvPr id="511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512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The Mutation root type and @MutationMapping resolvers</a:t>
            </a:r>
          </a:p>
        </p:txBody>
      </p:sp>
      <p:sp>
        <p:nvSpPr>
          <p:cNvPr id="514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Response types that report success and failure as data</a:t>
            </a:r>
          </a:p>
        </p:txBody>
      </p:sp>
      <p:sp>
        <p:nvSpPr>
          <p:cNvPr id="516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Input types for create and update, including partial updates</a:t>
            </a:r>
          </a:p>
        </p:txBody>
      </p:sp>
      <p:sp>
        <p:nvSpPr>
          <p:cNvPr id="518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9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"Field omitted" vs "explicitly null" with ArgumentValue</a:t>
            </a:r>
          </a:p>
        </p:txBody>
      </p:sp>
      <p:pic>
        <p:nvPicPr>
          <p:cNvPr id="520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3  ·  CONCEPT</a:t>
            </a:r>
          </a:p>
        </p:txBody>
      </p:sp>
      <p:sp>
        <p:nvSpPr>
          <p:cNvPr id="524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Mutations: one concept replaces four verbs</a:t>
            </a:r>
          </a:p>
        </p:txBody>
      </p:sp>
      <p:sp>
        <p:nvSpPr>
          <p:cNvPr id="525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Rounded Rectangle 5"/>
          <p:cNvSpPr/>
          <p:nvPr/>
        </p:nvSpPr>
        <p:spPr>
          <a:xfrm>
            <a:off x="457200" y="1783079"/>
            <a:ext cx="3566160" cy="438913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TextBox 6"/>
          <p:cNvSpPr txBox="1"/>
          <p:nvPr/>
        </p:nvSpPr>
        <p:spPr>
          <a:xfrm>
            <a:off x="685799" y="1847088"/>
            <a:ext cx="32004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POST   /movies</a:t>
            </a:r>
          </a:p>
        </p:txBody>
      </p:sp>
      <p:sp>
        <p:nvSpPr>
          <p:cNvPr id="528" name="Right Arrow 7"/>
          <p:cNvSpPr/>
          <p:nvPr/>
        </p:nvSpPr>
        <p:spPr>
          <a:xfrm>
            <a:off x="4160520" y="1874518"/>
            <a:ext cx="36576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Rounded Rectangle 8"/>
          <p:cNvSpPr/>
          <p:nvPr/>
        </p:nvSpPr>
        <p:spPr>
          <a:xfrm>
            <a:off x="4663440" y="1783079"/>
            <a:ext cx="4023360" cy="438913"/>
          </a:xfrm>
          <a:prstGeom prst="roundRect">
            <a:avLst>
              <a:gd name="adj" fmla="val 16667"/>
            </a:avLst>
          </a:prstGeom>
          <a:solidFill>
            <a:srgbClr val="6E1B5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9"/>
          <p:cNvSpPr txBox="1"/>
          <p:nvPr/>
        </p:nvSpPr>
        <p:spPr>
          <a:xfrm>
            <a:off x="4892040" y="1847088"/>
            <a:ext cx="3657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createMovie(input: ...)</a:t>
            </a:r>
          </a:p>
        </p:txBody>
      </p:sp>
      <p:sp>
        <p:nvSpPr>
          <p:cNvPr id="531" name="Rounded Rectangle 10"/>
          <p:cNvSpPr/>
          <p:nvPr/>
        </p:nvSpPr>
        <p:spPr>
          <a:xfrm>
            <a:off x="457200" y="2350007"/>
            <a:ext cx="3566160" cy="438913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TextBox 11"/>
          <p:cNvSpPr txBox="1"/>
          <p:nvPr/>
        </p:nvSpPr>
        <p:spPr>
          <a:xfrm>
            <a:off x="685799" y="2414015"/>
            <a:ext cx="32004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PUT / PATCH  /movies/42</a:t>
            </a:r>
          </a:p>
        </p:txBody>
      </p:sp>
      <p:sp>
        <p:nvSpPr>
          <p:cNvPr id="533" name="Right Arrow 12"/>
          <p:cNvSpPr/>
          <p:nvPr/>
        </p:nvSpPr>
        <p:spPr>
          <a:xfrm>
            <a:off x="4160520" y="2441448"/>
            <a:ext cx="36576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Rounded Rectangle 13"/>
          <p:cNvSpPr/>
          <p:nvPr/>
        </p:nvSpPr>
        <p:spPr>
          <a:xfrm>
            <a:off x="4663440" y="2350007"/>
            <a:ext cx="4023360" cy="438913"/>
          </a:xfrm>
          <a:prstGeom prst="roundRect">
            <a:avLst>
              <a:gd name="adj" fmla="val 16667"/>
            </a:avLst>
          </a:prstGeom>
          <a:solidFill>
            <a:srgbClr val="6E1B5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TextBox 14"/>
          <p:cNvSpPr txBox="1"/>
          <p:nvPr/>
        </p:nvSpPr>
        <p:spPr>
          <a:xfrm>
            <a:off x="4892040" y="2414015"/>
            <a:ext cx="3657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updateMovie(id: 42, input: ...)</a:t>
            </a:r>
          </a:p>
        </p:txBody>
      </p:sp>
      <p:sp>
        <p:nvSpPr>
          <p:cNvPr id="536" name="Rounded Rectangle 15"/>
          <p:cNvSpPr/>
          <p:nvPr/>
        </p:nvSpPr>
        <p:spPr>
          <a:xfrm>
            <a:off x="457200" y="2916935"/>
            <a:ext cx="3566160" cy="438913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TextBox 16"/>
          <p:cNvSpPr txBox="1"/>
          <p:nvPr/>
        </p:nvSpPr>
        <p:spPr>
          <a:xfrm>
            <a:off x="685799" y="2980944"/>
            <a:ext cx="32004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DELETE /movies/42</a:t>
            </a:r>
          </a:p>
        </p:txBody>
      </p:sp>
      <p:sp>
        <p:nvSpPr>
          <p:cNvPr id="538" name="Right Arrow 17"/>
          <p:cNvSpPr/>
          <p:nvPr/>
        </p:nvSpPr>
        <p:spPr>
          <a:xfrm>
            <a:off x="4160520" y="3008376"/>
            <a:ext cx="36576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Rounded Rectangle 18"/>
          <p:cNvSpPr/>
          <p:nvPr/>
        </p:nvSpPr>
        <p:spPr>
          <a:xfrm>
            <a:off x="4663440" y="2916935"/>
            <a:ext cx="4023360" cy="438913"/>
          </a:xfrm>
          <a:prstGeom prst="roundRect">
            <a:avLst>
              <a:gd name="adj" fmla="val 16667"/>
            </a:avLst>
          </a:prstGeom>
          <a:solidFill>
            <a:srgbClr val="6E1B5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19"/>
          <p:cNvSpPr txBox="1"/>
          <p:nvPr/>
        </p:nvSpPr>
        <p:spPr>
          <a:xfrm>
            <a:off x="4892040" y="2980944"/>
            <a:ext cx="3657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deleteMovie(id: 42)</a:t>
            </a:r>
          </a:p>
        </p:txBody>
      </p:sp>
      <p:sp>
        <p:nvSpPr>
          <p:cNvPr id="541" name="Oval 20"/>
          <p:cNvSpPr/>
          <p:nvPr/>
        </p:nvSpPr>
        <p:spPr>
          <a:xfrm>
            <a:off x="548640" y="3739896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21"/>
          <p:cNvSpPr txBox="1"/>
          <p:nvPr/>
        </p:nvSpPr>
        <p:spPr>
          <a:xfrm>
            <a:off x="868678" y="3657600"/>
            <a:ext cx="76809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Everything still travels through POST /graphql</a:t>
            </a:r>
          </a:p>
        </p:txBody>
      </p:sp>
      <p:sp>
        <p:nvSpPr>
          <p:cNvPr id="543" name="Oval 22"/>
          <p:cNvSpPr/>
          <p:nvPr/>
        </p:nvSpPr>
        <p:spPr>
          <a:xfrm>
            <a:off x="54864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TextBox 23"/>
          <p:cNvSpPr txBox="1"/>
          <p:nvPr/>
        </p:nvSpPr>
        <p:spPr>
          <a:xfrm>
            <a:off x="868678" y="4041647"/>
            <a:ext cx="768096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Top-level mutation fields run sequentially, in the order written</a:t>
            </a:r>
          </a:p>
        </p:txBody>
      </p:sp>
      <p:sp>
        <p:nvSpPr>
          <p:cNvPr id="545" name="Oval 24"/>
          <p:cNvSpPr/>
          <p:nvPr/>
        </p:nvSpPr>
        <p:spPr>
          <a:xfrm>
            <a:off x="548640" y="4507991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TextBox 25"/>
          <p:cNvSpPr txBox="1"/>
          <p:nvPr/>
        </p:nvSpPr>
        <p:spPr>
          <a:xfrm>
            <a:off x="868678" y="4425696"/>
            <a:ext cx="76809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The response is data you choose, not a status code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4 / 10</a:t>
            </a:r>
          </a:p>
        </p:txBody>
      </p:sp>
      <p:sp>
        <p:nvSpPr>
          <p:cNvPr id="550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551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the platform open for browsing but locked for editing.</a:t>
            </a:r>
          </a:p>
        </p:txBody>
      </p:sp>
      <p:sp>
        <p:nvSpPr>
          <p:cNvPr id="553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554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Spring Security's secure-by-default behavior</a:t>
            </a:r>
          </a:p>
        </p:txBody>
      </p:sp>
      <p:sp>
        <p:nvSpPr>
          <p:cNvPr id="556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 SecurityFilterChain that permits exactly what the API needs</a:t>
            </a:r>
          </a:p>
        </p:txBody>
      </p:sp>
      <p:sp>
        <p:nvSpPr>
          <p:cNvPr id="558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 login mutation that issues JWT tokens</a:t>
            </a:r>
          </a:p>
        </p:txBody>
      </p:sp>
      <p:sp>
        <p:nvSpPr>
          <p:cNvPr id="560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Role-based authorization on sensitive mutations</a:t>
            </a:r>
          </a:p>
        </p:txBody>
      </p:sp>
      <p:pic>
        <p:nvPicPr>
          <p:cNvPr id="562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4  ·  CONCEPT</a:t>
            </a:r>
          </a:p>
        </p:txBody>
      </p:sp>
      <p:sp>
        <p:nvSpPr>
          <p:cNvPr id="566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Security without URLs</a:t>
            </a:r>
          </a:p>
        </p:txBody>
      </p:sp>
      <p:sp>
        <p:nvSpPr>
          <p:cNvPr id="567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Rounded Rectangle 5"/>
          <p:cNvSpPr/>
          <p:nvPr/>
        </p:nvSpPr>
        <p:spPr>
          <a:xfrm>
            <a:off x="457200" y="1920239"/>
            <a:ext cx="1737361" cy="868681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9" name="TextBox 6"/>
          <p:cNvSpPr txBox="1"/>
          <p:nvPr/>
        </p:nvSpPr>
        <p:spPr>
          <a:xfrm>
            <a:off x="502919" y="1920239"/>
            <a:ext cx="1645922" cy="441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400"/>
              </a:lnSpc>
              <a:defRPr b="1" sz="1100">
                <a:solidFill>
                  <a:srgbClr val="FFFFFF"/>
                </a:solidFill>
              </a:defRPr>
            </a:pPr>
            <a:r>
              <a:t>Client</a:t>
            </a:r>
            <a:br/>
            <a:r>
              <a:t>(JWT in header)</a:t>
            </a:r>
          </a:p>
        </p:txBody>
      </p:sp>
      <p:sp>
        <p:nvSpPr>
          <p:cNvPr id="570" name="Rounded Rectangle 7"/>
          <p:cNvSpPr/>
          <p:nvPr/>
        </p:nvSpPr>
        <p:spPr>
          <a:xfrm>
            <a:off x="2788920" y="1920239"/>
            <a:ext cx="1737361" cy="86868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8"/>
          <p:cNvSpPr txBox="1"/>
          <p:nvPr/>
        </p:nvSpPr>
        <p:spPr>
          <a:xfrm>
            <a:off x="2834640" y="1920239"/>
            <a:ext cx="1645921" cy="441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400"/>
              </a:lnSpc>
              <a:defRPr b="1" sz="1100">
                <a:solidFill>
                  <a:srgbClr val="FFFFFF"/>
                </a:solidFill>
              </a:defRPr>
            </a:pPr>
            <a:r>
              <a:t>SecurityFilterChain</a:t>
            </a:r>
            <a:br/>
            <a:r>
              <a:t>(authenticate)</a:t>
            </a:r>
          </a:p>
        </p:txBody>
      </p:sp>
      <p:sp>
        <p:nvSpPr>
          <p:cNvPr id="572" name="Rounded Rectangle 9"/>
          <p:cNvSpPr/>
          <p:nvPr/>
        </p:nvSpPr>
        <p:spPr>
          <a:xfrm>
            <a:off x="5120640" y="1920239"/>
            <a:ext cx="1737361" cy="868681"/>
          </a:xfrm>
          <a:prstGeom prst="roundRect">
            <a:avLst>
              <a:gd name="adj" fmla="val 16667"/>
            </a:avLst>
          </a:prstGeom>
          <a:solidFill>
            <a:srgbClr val="6E1B5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3" name="TextBox 10"/>
          <p:cNvSpPr txBox="1"/>
          <p:nvPr/>
        </p:nvSpPr>
        <p:spPr>
          <a:xfrm>
            <a:off x="5166360" y="1920239"/>
            <a:ext cx="1645921" cy="441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400"/>
              </a:lnSpc>
              <a:defRPr b="1" sz="1100">
                <a:solidFill>
                  <a:srgbClr val="FFFFFF"/>
                </a:solidFill>
              </a:defRPr>
            </a:pPr>
            <a:r>
              <a:t>Resolver</a:t>
            </a:r>
            <a:br/>
            <a:r>
              <a:t>(role checks)</a:t>
            </a:r>
          </a:p>
        </p:txBody>
      </p:sp>
      <p:sp>
        <p:nvSpPr>
          <p:cNvPr id="574" name="Rounded Rectangle 11"/>
          <p:cNvSpPr/>
          <p:nvPr/>
        </p:nvSpPr>
        <p:spPr>
          <a:xfrm>
            <a:off x="7452359" y="1920239"/>
            <a:ext cx="1234441" cy="868681"/>
          </a:xfrm>
          <a:prstGeom prst="roundRect">
            <a:avLst>
              <a:gd name="adj" fmla="val 16667"/>
            </a:avLst>
          </a:prstGeom>
          <a:solidFill>
            <a:srgbClr val="31979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5" name="TextBox 12"/>
          <p:cNvSpPr txBox="1"/>
          <p:nvPr/>
        </p:nvSpPr>
        <p:spPr>
          <a:xfrm>
            <a:off x="7498079" y="1920239"/>
            <a:ext cx="1143001" cy="263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4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576" name="Right Arrow 13"/>
          <p:cNvSpPr/>
          <p:nvPr/>
        </p:nvSpPr>
        <p:spPr>
          <a:xfrm>
            <a:off x="2267711" y="2231135"/>
            <a:ext cx="45720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7" name="Right Arrow 14"/>
          <p:cNvSpPr/>
          <p:nvPr/>
        </p:nvSpPr>
        <p:spPr>
          <a:xfrm>
            <a:off x="4599432" y="2231135"/>
            <a:ext cx="45720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Right Arrow 15"/>
          <p:cNvSpPr/>
          <p:nvPr/>
        </p:nvSpPr>
        <p:spPr>
          <a:xfrm>
            <a:off x="6931152" y="2231135"/>
            <a:ext cx="457201" cy="2560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Oval 16"/>
          <p:cNvSpPr/>
          <p:nvPr/>
        </p:nvSpPr>
        <p:spPr>
          <a:xfrm>
            <a:off x="548640" y="332841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TextBox 17"/>
          <p:cNvSpPr txBox="1"/>
          <p:nvPr/>
        </p:nvSpPr>
        <p:spPr>
          <a:xfrm>
            <a:off x="868678" y="3246120"/>
            <a:ext cx="76809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One endpoint: no /admin/* URL rules to hide behind</a:t>
            </a:r>
          </a:p>
        </p:txBody>
      </p:sp>
      <p:sp>
        <p:nvSpPr>
          <p:cNvPr id="581" name="Oval 18"/>
          <p:cNvSpPr/>
          <p:nvPr/>
        </p:nvSpPr>
        <p:spPr>
          <a:xfrm>
            <a:off x="548640" y="376732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19"/>
          <p:cNvSpPr txBox="1"/>
          <p:nvPr/>
        </p:nvSpPr>
        <p:spPr>
          <a:xfrm>
            <a:off x="868678" y="3685030"/>
            <a:ext cx="768096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JWT in the Authorization header: stateless authentication</a:t>
            </a:r>
          </a:p>
        </p:txBody>
      </p:sp>
      <p:sp>
        <p:nvSpPr>
          <p:cNvPr id="583" name="Oval 20"/>
          <p:cNvSpPr/>
          <p:nvPr/>
        </p:nvSpPr>
        <p:spPr>
          <a:xfrm>
            <a:off x="548640" y="420624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4" name="TextBox 21"/>
          <p:cNvSpPr txBox="1"/>
          <p:nvPr/>
        </p:nvSpPr>
        <p:spPr>
          <a:xfrm>
            <a:off x="868678" y="4123944"/>
            <a:ext cx="7680961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Authorization happens at the resolver, per operation or per field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5 / 10</a:t>
            </a:r>
          </a:p>
        </p:txBody>
      </p:sp>
      <p:sp>
        <p:nvSpPr>
          <p:cNvPr id="588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Error Handling</a:t>
            </a:r>
          </a:p>
        </p:txBody>
      </p:sp>
      <p:sp>
        <p:nvSpPr>
          <p:cNvPr id="589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the API to fail with clear, specific answers.</a:t>
            </a:r>
          </a:p>
        </p:txBody>
      </p:sp>
      <p:sp>
        <p:nvSpPr>
          <p:cNvPr id="591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592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GraphQL vs REST failure: HTTP 200, the errors array, partial responses</a:t>
            </a:r>
          </a:p>
        </p:txBody>
      </p:sp>
      <p:sp>
        <p:nvSpPr>
          <p:cNvPr id="594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Map domain exceptions to meaningful errors with a single handler</a:t>
            </a:r>
          </a:p>
        </p:txBody>
      </p:sp>
      <p:sp>
        <p:nvSpPr>
          <p:cNvPr id="596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Classifications and structured extensions</a:t>
            </a:r>
          </a:p>
        </p:txBody>
      </p:sp>
      <p:sp>
        <p:nvSpPr>
          <p:cNvPr id="598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Errors-as-data with typed enums</a:t>
            </a:r>
          </a:p>
        </p:txBody>
      </p:sp>
      <p:pic>
        <p:nvPicPr>
          <p:cNvPr id="600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5  ·  CONCEPT</a:t>
            </a:r>
          </a:p>
        </p:txBody>
      </p:sp>
      <p:sp>
        <p:nvSpPr>
          <p:cNvPr id="604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Errors: no status codes, an errors array</a:t>
            </a:r>
          </a:p>
        </p:txBody>
      </p:sp>
      <p:sp>
        <p:nvSpPr>
          <p:cNvPr id="605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Rounded Rectangle 5"/>
          <p:cNvSpPr/>
          <p:nvPr/>
        </p:nvSpPr>
        <p:spPr>
          <a:xfrm>
            <a:off x="457200" y="1783079"/>
            <a:ext cx="5120641" cy="306324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TextBox 6"/>
          <p:cNvSpPr txBox="1"/>
          <p:nvPr/>
        </p:nvSpPr>
        <p:spPr>
          <a:xfrm>
            <a:off x="704087" y="1901951"/>
            <a:ext cx="4626865" cy="176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HTTP 200 OK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"data": {</a:t>
            </a:r>
          </a:p>
          <a:p>
            <a:pPr>
              <a:defRPr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"movie":  { "title": "Alien" },</a:t>
            </a:r>
          </a:p>
          <a:p>
            <a:pPr>
              <a:defRPr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"person": null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},</a:t>
            </a:r>
          </a:p>
          <a:p>
            <a:pPr>
              <a:defRPr b="1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"errors": [{</a:t>
            </a:r>
          </a:p>
          <a:p>
            <a:pPr>
              <a:defRPr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"message": "Person 99999 not found",</a:t>
            </a:r>
          </a:p>
          <a:p>
            <a:pPr>
              <a:defRPr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"path": ["person"],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"extensions": { "classification": "NOT_FOUND" }</a:t>
            </a:r>
          </a:p>
          <a:p>
            <a:pPr>
              <a:defRPr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}]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608" name="Oval 7"/>
          <p:cNvSpPr/>
          <p:nvPr/>
        </p:nvSpPr>
        <p:spPr>
          <a:xfrm>
            <a:off x="5806440" y="218541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TextBox 8"/>
          <p:cNvSpPr txBox="1"/>
          <p:nvPr/>
        </p:nvSpPr>
        <p:spPr>
          <a:xfrm>
            <a:off x="6126479" y="2103120"/>
            <a:ext cx="2651761" cy="27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Almost always HTTP 200</a:t>
            </a:r>
          </a:p>
        </p:txBody>
      </p:sp>
      <p:sp>
        <p:nvSpPr>
          <p:cNvPr id="610" name="Oval 9"/>
          <p:cNvSpPr/>
          <p:nvPr/>
        </p:nvSpPr>
        <p:spPr>
          <a:xfrm>
            <a:off x="5806440" y="287121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" name="TextBox 10"/>
          <p:cNvSpPr txBox="1"/>
          <p:nvPr/>
        </p:nvSpPr>
        <p:spPr>
          <a:xfrm>
            <a:off x="6126479" y="2788920"/>
            <a:ext cx="2651761" cy="463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data and errors coexist: partial responses</a:t>
            </a:r>
          </a:p>
        </p:txBody>
      </p:sp>
      <p:sp>
        <p:nvSpPr>
          <p:cNvPr id="612" name="Oval 11"/>
          <p:cNvSpPr/>
          <p:nvPr/>
        </p:nvSpPr>
        <p:spPr>
          <a:xfrm>
            <a:off x="5806440" y="3557015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TextBox 12"/>
          <p:cNvSpPr txBox="1"/>
          <p:nvPr/>
        </p:nvSpPr>
        <p:spPr>
          <a:xfrm>
            <a:off x="6126479" y="3474720"/>
            <a:ext cx="2651761" cy="463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extensions carry structured, machine-readable detail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6 / 10</a:t>
            </a:r>
          </a:p>
        </p:txBody>
      </p:sp>
      <p:sp>
        <p:nvSpPr>
          <p:cNvPr id="617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Input Validation</a:t>
            </a:r>
          </a:p>
        </p:txBody>
      </p:sp>
      <p:sp>
        <p:nvSpPr>
          <p:cNvPr id="618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every input checked against published rules.</a:t>
            </a:r>
          </a:p>
        </p:txBody>
      </p:sp>
      <p:sp>
        <p:nvSpPr>
          <p:cNvPr id="620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621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Three validation layers: schema directives, Bean Validation, service layer</a:t>
            </a:r>
          </a:p>
        </p:txBody>
      </p:sp>
      <p:sp>
        <p:nvSpPr>
          <p:cNvPr id="623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Declarative constraints with schema directives</a:t>
            </a:r>
          </a:p>
        </p:txBody>
      </p:sp>
      <p:sp>
        <p:nvSpPr>
          <p:cNvPr id="625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Rules visible through introspection, enforced before any resolver runs</a:t>
            </a:r>
          </a:p>
        </p:txBody>
      </p:sp>
      <p:pic>
        <p:nvPicPr>
          <p:cNvPr id="627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6  ·  CONCEPT</a:t>
            </a:r>
          </a:p>
        </p:txBody>
      </p:sp>
      <p:sp>
        <p:nvSpPr>
          <p:cNvPr id="631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Validation: three layers</a:t>
            </a:r>
          </a:p>
        </p:txBody>
      </p:sp>
      <p:sp>
        <p:nvSpPr>
          <p:cNvPr id="632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Rounded Rectangle 5"/>
          <p:cNvSpPr/>
          <p:nvPr/>
        </p:nvSpPr>
        <p:spPr>
          <a:xfrm>
            <a:off x="457200" y="1783079"/>
            <a:ext cx="6035041" cy="59436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6"/>
          <p:cNvSpPr txBox="1"/>
          <p:nvPr/>
        </p:nvSpPr>
        <p:spPr>
          <a:xfrm>
            <a:off x="704088" y="1856231"/>
            <a:ext cx="5577840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b="1" sz="1200">
                <a:solidFill>
                  <a:srgbClr val="FFFFFF"/>
                </a:solidFill>
              </a:defRPr>
            </a:pPr>
            <a:r>
              <a:t>Schema directives:  </a:t>
            </a:r>
            <a:r>
              <a:rPr b="0" sz="1000"/>
              <a:t>Shape: length, range, format. In the contract, visible via introspection, checked before any resolver runs.</a:t>
            </a:r>
          </a:p>
        </p:txBody>
      </p:sp>
      <p:sp>
        <p:nvSpPr>
          <p:cNvPr id="635" name="Rounded Rectangle 7"/>
          <p:cNvSpPr/>
          <p:nvPr/>
        </p:nvSpPr>
        <p:spPr>
          <a:xfrm>
            <a:off x="457200" y="2496311"/>
            <a:ext cx="6035041" cy="594361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8"/>
          <p:cNvSpPr txBox="1"/>
          <p:nvPr/>
        </p:nvSpPr>
        <p:spPr>
          <a:xfrm>
            <a:off x="704088" y="2569464"/>
            <a:ext cx="5577840" cy="415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b="1" sz="1200">
                <a:solidFill>
                  <a:srgbClr val="FFFFFF"/>
                </a:solidFill>
              </a:defRPr>
            </a:pPr>
            <a:r>
              <a:t>Bean Validation (@Valid):  </a:t>
            </a:r>
            <a:r>
              <a:rPr b="0" sz="1000"/>
              <a:t>The same field-level constraints, on the Java records instead of the schema.</a:t>
            </a:r>
          </a:p>
        </p:txBody>
      </p:sp>
      <p:sp>
        <p:nvSpPr>
          <p:cNvPr id="637" name="Rounded Rectangle 9"/>
          <p:cNvSpPr/>
          <p:nvPr/>
        </p:nvSpPr>
        <p:spPr>
          <a:xfrm>
            <a:off x="457200" y="3209544"/>
            <a:ext cx="6035041" cy="594361"/>
          </a:xfrm>
          <a:prstGeom prst="roundRect">
            <a:avLst>
              <a:gd name="adj" fmla="val 16667"/>
            </a:avLst>
          </a:prstGeom>
          <a:solidFill>
            <a:srgbClr val="31979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TextBox 10"/>
          <p:cNvSpPr txBox="1"/>
          <p:nvPr/>
        </p:nvSpPr>
        <p:spPr>
          <a:xfrm>
            <a:off x="704088" y="3282696"/>
            <a:ext cx="5577840" cy="255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b="1" sz="1200">
                <a:solidFill>
                  <a:srgbClr val="FFFFFF"/>
                </a:solidFill>
              </a:defRPr>
            </a:pPr>
            <a:r>
              <a:t>Service layer:  </a:t>
            </a:r>
            <a:r>
              <a:rPr b="0" sz="1000"/>
              <a:t>Business rules that need database state or span multiple fields.</a:t>
            </a:r>
          </a:p>
        </p:txBody>
      </p:sp>
      <p:sp>
        <p:nvSpPr>
          <p:cNvPr id="639" name="Rounded Rectangle 11"/>
          <p:cNvSpPr/>
          <p:nvPr/>
        </p:nvSpPr>
        <p:spPr>
          <a:xfrm>
            <a:off x="6675119" y="1783079"/>
            <a:ext cx="2194561" cy="201168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TextBox 12"/>
          <p:cNvSpPr txBox="1"/>
          <p:nvPr/>
        </p:nvSpPr>
        <p:spPr>
          <a:xfrm>
            <a:off x="6922008" y="1901951"/>
            <a:ext cx="1700785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input CreateMovieInput {</a:t>
            </a:r>
          </a:p>
          <a:p>
            <a:pPr>
              <a:defRPr sz="9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title: String!</a:t>
            </a:r>
          </a:p>
          <a:p>
            <a:pPr>
              <a:defRPr b="1" sz="9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@Size(min:1, max:200)</a:t>
            </a:r>
          </a:p>
          <a:p>
            <a:pPr>
              <a:defRPr sz="9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releaseYear: Int!</a:t>
            </a:r>
          </a:p>
          <a:p>
            <a:pPr>
              <a:defRPr b="1" sz="9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@Range(min:1888)</a:t>
            </a:r>
          </a:p>
          <a:p>
            <a:pPr>
              <a:defRPr sz="9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641" name="Rounded Rectangle 13"/>
          <p:cNvSpPr/>
          <p:nvPr/>
        </p:nvSpPr>
        <p:spPr>
          <a:xfrm>
            <a:off x="457200" y="4069079"/>
            <a:ext cx="8229600" cy="45720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TextBox 14"/>
          <p:cNvSpPr txBox="1"/>
          <p:nvPr/>
        </p:nvSpPr>
        <p:spPr>
          <a:xfrm>
            <a:off x="685799" y="4133086"/>
            <a:ext cx="777240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A graduated defense: reject malformed input early and cheaply, keep domain rules in the service.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5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7 / 10</a:t>
            </a:r>
          </a:p>
        </p:txBody>
      </p:sp>
      <p:sp>
        <p:nvSpPr>
          <p:cNvPr id="646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Search &amp; Unions</a:t>
            </a:r>
          </a:p>
        </p:txBody>
      </p:sp>
      <p:sp>
        <p:nvSpPr>
          <p:cNvPr id="647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8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one search box that finds films and people alike.</a:t>
            </a:r>
          </a:p>
        </p:txBody>
      </p:sp>
      <p:sp>
        <p:nvSpPr>
          <p:cNvPr id="649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650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Typed search queries backed by the existing services</a:t>
            </a:r>
          </a:p>
        </p:txBody>
      </p:sp>
      <p:sp>
        <p:nvSpPr>
          <p:cNvPr id="652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Union types: one field, several distinct result types</a:t>
            </a:r>
          </a:p>
        </p:txBody>
      </p:sp>
      <p:sp>
        <p:nvSpPr>
          <p:cNvPr id="654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5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Inline fragments for per-type field selection</a:t>
            </a:r>
          </a:p>
        </p:txBody>
      </p:sp>
      <p:pic>
        <p:nvPicPr>
          <p:cNvPr id="656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9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7  ·  CONCEPT</a:t>
            </a:r>
          </a:p>
        </p:txBody>
      </p:sp>
      <p:sp>
        <p:nvSpPr>
          <p:cNvPr id="660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Union types: one field, several types</a:t>
            </a:r>
          </a:p>
        </p:txBody>
      </p:sp>
      <p:sp>
        <p:nvSpPr>
          <p:cNvPr id="661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Rounded Rectangle 5"/>
          <p:cNvSpPr/>
          <p:nvPr/>
        </p:nvSpPr>
        <p:spPr>
          <a:xfrm>
            <a:off x="457200" y="1783079"/>
            <a:ext cx="4114800" cy="173736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3" name="TextBox 6"/>
          <p:cNvSpPr txBox="1"/>
          <p:nvPr/>
        </p:nvSpPr>
        <p:spPr>
          <a:xfrm>
            <a:off x="704088" y="1901951"/>
            <a:ext cx="3621023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union SearchResult = Movie | Person</a:t>
            </a:r>
          </a:p>
          <a:p>
            <a:pPr>
              <a:defRPr sz="11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Query {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search(text: String!): [SearchResult!]!</a:t>
            </a:r>
          </a:p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664" name="Rounded Rectangle 7"/>
          <p:cNvSpPr/>
          <p:nvPr/>
        </p:nvSpPr>
        <p:spPr>
          <a:xfrm>
            <a:off x="4754879" y="1783079"/>
            <a:ext cx="4114801" cy="173736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TextBox 8"/>
          <p:cNvSpPr txBox="1"/>
          <p:nvPr/>
        </p:nvSpPr>
        <p:spPr>
          <a:xfrm>
            <a:off x="5001767" y="1901951"/>
            <a:ext cx="362102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{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search(text: "alien") {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 on Movie  { title releaseYear }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 on Person { name }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666" name="Rounded Rectangle 9"/>
          <p:cNvSpPr/>
          <p:nvPr/>
        </p:nvSpPr>
        <p:spPr>
          <a:xfrm>
            <a:off x="457200" y="3840479"/>
            <a:ext cx="8412481" cy="45720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TextBox 10"/>
          <p:cNvSpPr txBox="1"/>
          <p:nvPr/>
        </p:nvSpPr>
        <p:spPr>
          <a:xfrm>
            <a:off x="685800" y="3904486"/>
            <a:ext cx="7955279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Use a union when the result types share no fields. The client picks per type with inline fragments.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8 / 10</a:t>
            </a:r>
          </a:p>
        </p:txBody>
      </p:sp>
      <p:sp>
        <p:nvSpPr>
          <p:cNvPr id="671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Custom Scalars &amp; External APIs</a:t>
            </a:r>
          </a:p>
        </p:txBody>
      </p:sp>
      <p:sp>
        <p:nvSpPr>
          <p:cNvPr id="672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3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the catalogue enriched beyond our own data.</a:t>
            </a:r>
          </a:p>
        </p:txBody>
      </p:sp>
      <p:sp>
        <p:nvSpPr>
          <p:cNvPr id="674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675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Custom scalars from the extended-scalars library (DateTime, URL, CountryCode)</a:t>
            </a:r>
          </a:p>
        </p:txBody>
      </p:sp>
      <p:sp>
        <p:nvSpPr>
          <p:cNvPr id="677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Calling an external GraphQL API from a resolver with HttpSyncGraphQlClient</a:t>
            </a:r>
          </a:p>
        </p:txBody>
      </p:sp>
      <p:sp>
        <p:nvSpPr>
          <p:cNvPr id="679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Caching external results and failing gracefully</a:t>
            </a:r>
          </a:p>
        </p:txBody>
      </p:sp>
      <p:pic>
        <p:nvPicPr>
          <p:cNvPr id="681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8  ·  CONCEPT</a:t>
            </a:r>
          </a:p>
        </p:txBody>
      </p:sp>
      <p:sp>
        <p:nvSpPr>
          <p:cNvPr id="685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Custom scalars: types beyond String</a:t>
            </a:r>
          </a:p>
        </p:txBody>
      </p:sp>
      <p:sp>
        <p:nvSpPr>
          <p:cNvPr id="686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Rounded Rectangle 5"/>
          <p:cNvSpPr/>
          <p:nvPr/>
        </p:nvSpPr>
        <p:spPr>
          <a:xfrm>
            <a:off x="457200" y="1783079"/>
            <a:ext cx="4023360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TextBox 6"/>
          <p:cNvSpPr txBox="1"/>
          <p:nvPr/>
        </p:nvSpPr>
        <p:spPr>
          <a:xfrm>
            <a:off x="704088" y="1874518"/>
            <a:ext cx="35661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21B4E"/>
                </a:solidFill>
              </a:defRPr>
            </a:lvl1pPr>
          </a:lstStyle>
          <a:p>
            <a:pPr/>
            <a:r>
              <a:t>Built-in scalars</a:t>
            </a:r>
          </a:p>
        </p:txBody>
      </p:sp>
      <p:sp>
        <p:nvSpPr>
          <p:cNvPr id="689" name="TextBox 7"/>
          <p:cNvSpPr txBox="1"/>
          <p:nvPr/>
        </p:nvSpPr>
        <p:spPr>
          <a:xfrm>
            <a:off x="704088" y="2176272"/>
            <a:ext cx="35661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A5A6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Int, Float, String, Boolean, ID</a:t>
            </a:r>
          </a:p>
        </p:txBody>
      </p:sp>
      <p:sp>
        <p:nvSpPr>
          <p:cNvPr id="690" name="TextBox 8"/>
          <p:cNvSpPr txBox="1"/>
          <p:nvPr/>
        </p:nvSpPr>
        <p:spPr>
          <a:xfrm>
            <a:off x="704088" y="2514599"/>
            <a:ext cx="3566161" cy="263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i="1" sz="1100">
                <a:solidFill>
                  <a:srgbClr val="5A5A6E"/>
                </a:solidFill>
              </a:defRPr>
            </a:lvl1pPr>
          </a:lstStyle>
          <a:p>
            <a:pPr/>
            <a:r>
              <a:t>That is ALL the specification guarantees.</a:t>
            </a:r>
          </a:p>
        </p:txBody>
      </p:sp>
      <p:sp>
        <p:nvSpPr>
          <p:cNvPr id="691" name="Rounded Rectangle 9"/>
          <p:cNvSpPr/>
          <p:nvPr/>
        </p:nvSpPr>
        <p:spPr>
          <a:xfrm>
            <a:off x="4663440" y="1783079"/>
            <a:ext cx="4023360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TextBox 10"/>
          <p:cNvSpPr txBox="1"/>
          <p:nvPr/>
        </p:nvSpPr>
        <p:spPr>
          <a:xfrm>
            <a:off x="4910328" y="1874518"/>
            <a:ext cx="35661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22035"/>
                </a:solidFill>
              </a:defRPr>
            </a:lvl1pPr>
          </a:lstStyle>
          <a:p>
            <a:pPr/>
            <a:r>
              <a:t>Extended scalars (library)</a:t>
            </a:r>
          </a:p>
        </p:txBody>
      </p:sp>
      <p:sp>
        <p:nvSpPr>
          <p:cNvPr id="693" name="TextBox 11"/>
          <p:cNvSpPr txBox="1"/>
          <p:nvPr/>
        </p:nvSpPr>
        <p:spPr>
          <a:xfrm>
            <a:off x="4910328" y="2176272"/>
            <a:ext cx="3566161" cy="502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5A5A6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DateTime, Date, URL,</a:t>
            </a:r>
            <a:br/>
            <a:r>
              <a:t>EmailAddress, CountryCode, Currency</a:t>
            </a:r>
          </a:p>
        </p:txBody>
      </p:sp>
      <p:sp>
        <p:nvSpPr>
          <p:cNvPr id="694" name="TextBox 12"/>
          <p:cNvSpPr txBox="1"/>
          <p:nvPr/>
        </p:nvSpPr>
        <p:spPr>
          <a:xfrm>
            <a:off x="4910328" y="2834639"/>
            <a:ext cx="3566161" cy="441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400"/>
              </a:lnSpc>
              <a:defRPr i="1" sz="1100">
                <a:solidFill>
                  <a:srgbClr val="5A5A6E"/>
                </a:solidFill>
              </a:defRPr>
            </a:pPr>
            <a:r>
              <a:t>The schema states what a value IS,</a:t>
            </a:r>
            <a:br/>
            <a:r>
              <a:t>parsed and validated in one place.</a:t>
            </a:r>
          </a:p>
        </p:txBody>
      </p:sp>
      <p:sp>
        <p:nvSpPr>
          <p:cNvPr id="695" name="Rounded Rectangle 13"/>
          <p:cNvSpPr/>
          <p:nvPr/>
        </p:nvSpPr>
        <p:spPr>
          <a:xfrm>
            <a:off x="457200" y="3977638"/>
            <a:ext cx="8229600" cy="50292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14"/>
          <p:cNvSpPr txBox="1"/>
          <p:nvPr/>
        </p:nvSpPr>
        <p:spPr>
          <a:xfrm>
            <a:off x="704087" y="4096510"/>
            <a:ext cx="7735826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scalar CountryCode</a:t>
            </a:r>
            <a:r>
              <a:rPr b="0">
                <a:solidFill>
                  <a:srgbClr val="ABB2BF"/>
                </a:solidFill>
              </a:rPr>
              <a:t>        </a:t>
            </a:r>
            <a:r>
              <a:rPr b="0">
                <a:solidFill>
                  <a:srgbClr val="E5C07B"/>
                </a:solidFill>
              </a:rPr>
              <a:t>country: CountryCode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9 / 10</a:t>
            </a:r>
          </a:p>
        </p:txBody>
      </p:sp>
      <p:sp>
        <p:nvSpPr>
          <p:cNvPr id="700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TV Shows, Interfaces &amp; Watch List</a:t>
            </a:r>
          </a:p>
        </p:txBody>
      </p:sp>
      <p:sp>
        <p:nvSpPr>
          <p:cNvPr id="701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2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TV shows in the catalogue and personal watch lists on top.</a:t>
            </a:r>
          </a:p>
        </p:txBody>
      </p:sp>
      <p:sp>
        <p:nvSpPr>
          <p:cNvPr id="703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704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Interfaces: the fields a Movie and a TvShow have in common</a:t>
            </a:r>
          </a:p>
        </p:txBody>
      </p:sp>
      <p:sp>
        <p:nvSpPr>
          <p:cNvPr id="706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7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When an interface beats a union</a:t>
            </a:r>
          </a:p>
        </p:txBody>
      </p:sp>
      <p:sp>
        <p:nvSpPr>
          <p:cNvPr id="708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9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@oneOf input types: an argument that is exactly one of several things</a:t>
            </a:r>
          </a:p>
        </p:txBody>
      </p:sp>
      <p:sp>
        <p:nvSpPr>
          <p:cNvPr id="710" name="Oval 13"/>
          <p:cNvSpPr/>
          <p:nvPr/>
        </p:nvSpPr>
        <p:spPr>
          <a:xfrm>
            <a:off x="822960" y="4123944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TextBox 14"/>
          <p:cNvSpPr txBox="1"/>
          <p:nvPr/>
        </p:nvSpPr>
        <p:spPr>
          <a:xfrm>
            <a:off x="1142999" y="4041647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 per-user, authenticated feature built on both</a:t>
            </a:r>
          </a:p>
        </p:txBody>
      </p:sp>
      <p:pic>
        <p:nvPicPr>
          <p:cNvPr id="712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9  ·  CONCEPT</a:t>
            </a:r>
          </a:p>
        </p:txBody>
      </p:sp>
      <p:sp>
        <p:nvSpPr>
          <p:cNvPr id="716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Interfaces (and @oneOf inputs)</a:t>
            </a:r>
          </a:p>
        </p:txBody>
      </p:sp>
      <p:sp>
        <p:nvSpPr>
          <p:cNvPr id="717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8" name="Rounded Rectangle 5"/>
          <p:cNvSpPr/>
          <p:nvPr/>
        </p:nvSpPr>
        <p:spPr>
          <a:xfrm>
            <a:off x="457200" y="1783079"/>
            <a:ext cx="4206241" cy="233172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9" name="TextBox 6"/>
          <p:cNvSpPr txBox="1"/>
          <p:nvPr/>
        </p:nvSpPr>
        <p:spPr>
          <a:xfrm>
            <a:off x="704087" y="1901951"/>
            <a:ext cx="3712465" cy="106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interface Title {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id: ID!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title: String!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releaseYear: Int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Movie  implements Title { ... }</a:t>
            </a:r>
          </a:p>
          <a:p>
            <a:pPr>
              <a:defRPr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TvShow implements Title { ... }</a:t>
            </a:r>
          </a:p>
        </p:txBody>
      </p:sp>
      <p:sp>
        <p:nvSpPr>
          <p:cNvPr id="720" name="Rounded Rectangle 7"/>
          <p:cNvSpPr/>
          <p:nvPr/>
        </p:nvSpPr>
        <p:spPr>
          <a:xfrm>
            <a:off x="4846320" y="1783079"/>
            <a:ext cx="3931921" cy="233172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1" name="TextBox 8"/>
          <p:cNvSpPr txBox="1"/>
          <p:nvPr/>
        </p:nvSpPr>
        <p:spPr>
          <a:xfrm>
            <a:off x="5093207" y="1901951"/>
            <a:ext cx="3438146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input SubjectInput @oneOf {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movieId:  ID</a:t>
            </a:r>
          </a:p>
          <a:p>
            <a:pPr>
              <a:defRPr sz="10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tvShowId: ID</a:t>
            </a:r>
          </a:p>
          <a:p>
            <a:pPr>
              <a:defRPr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defRPr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defRPr sz="1000">
                <a:solidFill>
                  <a:srgbClr val="6B6B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exactly one field must be set</a:t>
            </a:r>
          </a:p>
        </p:txBody>
      </p:sp>
      <p:sp>
        <p:nvSpPr>
          <p:cNvPr id="722" name="Rounded Rectangle 9"/>
          <p:cNvSpPr/>
          <p:nvPr/>
        </p:nvSpPr>
        <p:spPr>
          <a:xfrm>
            <a:off x="457200" y="4315967"/>
            <a:ext cx="8412481" cy="45720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TextBox 10"/>
          <p:cNvSpPr txBox="1"/>
          <p:nvPr/>
        </p:nvSpPr>
        <p:spPr>
          <a:xfrm>
            <a:off x="685800" y="4379976"/>
            <a:ext cx="7955279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Interface: shared fields guaranteed.  Union: nothing shared.  @oneOf: exactly one of these.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Rounded Rectangle 1"/>
          <p:cNvSpPr/>
          <p:nvPr/>
        </p:nvSpPr>
        <p:spPr>
          <a:xfrm>
            <a:off x="731519" y="457200"/>
            <a:ext cx="1554481" cy="365760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TextBox 2"/>
          <p:cNvSpPr txBox="1"/>
          <p:nvPr/>
        </p:nvSpPr>
        <p:spPr>
          <a:xfrm>
            <a:off x="777239" y="457199"/>
            <a:ext cx="146304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CLASS 10 / 10</a:t>
            </a:r>
          </a:p>
        </p:txBody>
      </p:sp>
      <p:sp>
        <p:nvSpPr>
          <p:cNvPr id="727" name="TextBox 3"/>
          <p:cNvSpPr txBox="1"/>
          <p:nvPr/>
        </p:nvSpPr>
        <p:spPr>
          <a:xfrm>
            <a:off x="777239" y="950975"/>
            <a:ext cx="7772402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Reviews, Authorization &amp; Subscriptions</a:t>
            </a:r>
          </a:p>
        </p:txBody>
      </p:sp>
      <p:sp>
        <p:nvSpPr>
          <p:cNvPr id="728" name="Rectangle 4"/>
          <p:cNvSpPr/>
          <p:nvPr/>
        </p:nvSpPr>
        <p:spPr>
          <a:xfrm>
            <a:off x="731519" y="1536191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9" name="TextBox 5"/>
          <p:cNvSpPr txBox="1"/>
          <p:nvPr/>
        </p:nvSpPr>
        <p:spPr>
          <a:xfrm>
            <a:off x="777240" y="1719072"/>
            <a:ext cx="7589520" cy="286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C9C9DA"/>
                </a:solidFill>
              </a:defRPr>
            </a:lvl1pPr>
          </a:lstStyle>
          <a:p>
            <a:pPr/>
            <a:r>
              <a:t>As the product owner, I want visitors to rate and review titles and see new reviews arrive live.</a:t>
            </a:r>
          </a:p>
        </p:txBody>
      </p:sp>
      <p:sp>
        <p:nvSpPr>
          <p:cNvPr id="730" name="TextBox 6"/>
          <p:cNvSpPr txBox="1"/>
          <p:nvPr/>
        </p:nvSpPr>
        <p:spPr>
          <a:xfrm>
            <a:off x="777239" y="2331720"/>
            <a:ext cx="539496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By the end of this class, you will have:</a:t>
            </a:r>
          </a:p>
        </p:txBody>
      </p:sp>
      <p:sp>
        <p:nvSpPr>
          <p:cNvPr id="731" name="Oval 7"/>
          <p:cNvSpPr/>
          <p:nvPr/>
        </p:nvSpPr>
        <p:spPr>
          <a:xfrm>
            <a:off x="822960" y="2807207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TextBox 8"/>
          <p:cNvSpPr txBox="1"/>
          <p:nvPr/>
        </p:nvSpPr>
        <p:spPr>
          <a:xfrm>
            <a:off x="1142999" y="2724911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Object-level (ownership) and field-level authorization</a:t>
            </a:r>
          </a:p>
        </p:txBody>
      </p:sp>
      <p:sp>
        <p:nvSpPr>
          <p:cNvPr id="733" name="Oval 9"/>
          <p:cNvSpPr/>
          <p:nvPr/>
        </p:nvSpPr>
        <p:spPr>
          <a:xfrm>
            <a:off x="822960" y="3246120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4" name="TextBox 10"/>
          <p:cNvSpPr txBox="1"/>
          <p:nvPr/>
        </p:nvSpPr>
        <p:spPr>
          <a:xfrm>
            <a:off x="1142999" y="3163823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The DateTime scalar in practice</a:t>
            </a:r>
          </a:p>
        </p:txBody>
      </p:sp>
      <p:sp>
        <p:nvSpPr>
          <p:cNvPr id="735" name="Oval 11"/>
          <p:cNvSpPr/>
          <p:nvPr/>
        </p:nvSpPr>
        <p:spPr>
          <a:xfrm>
            <a:off x="822960" y="3685032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6" name="TextBox 12"/>
          <p:cNvSpPr txBox="1"/>
          <p:nvPr/>
        </p:nvSpPr>
        <p:spPr>
          <a:xfrm>
            <a:off x="1142999" y="3602735"/>
            <a:ext cx="7132321" cy="28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Real-time updates over WebSocket with GraphQL subscriptions</a:t>
            </a:r>
          </a:p>
        </p:txBody>
      </p:sp>
      <p:pic>
        <p:nvPicPr>
          <p:cNvPr id="737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8119" y="4315967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Rounded Rectangle 1"/>
          <p:cNvSpPr/>
          <p:nvPr/>
        </p:nvSpPr>
        <p:spPr>
          <a:xfrm>
            <a:off x="731519" y="457200"/>
            <a:ext cx="2331722" cy="365760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0" name="TextBox 2"/>
          <p:cNvSpPr txBox="1"/>
          <p:nvPr/>
        </p:nvSpPr>
        <p:spPr>
          <a:xfrm>
            <a:off x="777239" y="457199"/>
            <a:ext cx="224028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CLASS 10  ·  CONCEPT</a:t>
            </a:r>
          </a:p>
        </p:txBody>
      </p:sp>
      <p:sp>
        <p:nvSpPr>
          <p:cNvPr id="741" name="TextBox 3"/>
          <p:cNvSpPr txBox="1"/>
          <p:nvPr/>
        </p:nvSpPr>
        <p:spPr>
          <a:xfrm>
            <a:off x="777239" y="950975"/>
            <a:ext cx="777240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Subscriptions: the server calls you</a:t>
            </a:r>
          </a:p>
        </p:txBody>
      </p:sp>
      <p:sp>
        <p:nvSpPr>
          <p:cNvPr id="742" name="Rectangle 4"/>
          <p:cNvSpPr/>
          <p:nvPr/>
        </p:nvSpPr>
        <p:spPr>
          <a:xfrm>
            <a:off x="731519" y="1517903"/>
            <a:ext cx="1188721" cy="41149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3" name="Rounded Rectangle 5"/>
          <p:cNvSpPr/>
          <p:nvPr/>
        </p:nvSpPr>
        <p:spPr>
          <a:xfrm>
            <a:off x="457200" y="1783079"/>
            <a:ext cx="4023360" cy="2377441"/>
          </a:xfrm>
          <a:prstGeom prst="roundRect">
            <a:avLst>
              <a:gd name="adj" fmla="val 16667"/>
            </a:avLst>
          </a:prstGeom>
          <a:solidFill>
            <a:srgbClr val="282C3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TextBox 6"/>
          <p:cNvSpPr txBox="1"/>
          <p:nvPr/>
        </p:nvSpPr>
        <p:spPr>
          <a:xfrm>
            <a:off x="704088" y="1901951"/>
            <a:ext cx="3529584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subscription {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reviewAdded {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rating</a:t>
            </a:r>
          </a:p>
          <a:p>
            <a:pPr>
              <a:defRPr sz="11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comment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author { username }</a:t>
            </a:r>
          </a:p>
          <a:p>
            <a:pPr>
              <a:defRPr sz="11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745" name="Rounded Rectangle 7"/>
          <p:cNvSpPr/>
          <p:nvPr/>
        </p:nvSpPr>
        <p:spPr>
          <a:xfrm>
            <a:off x="4846320" y="2377439"/>
            <a:ext cx="1325881" cy="640081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6" name="TextBox 8"/>
          <p:cNvSpPr txBox="1"/>
          <p:nvPr/>
        </p:nvSpPr>
        <p:spPr>
          <a:xfrm>
            <a:off x="4892040" y="2377439"/>
            <a:ext cx="123444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Client</a:t>
            </a:r>
          </a:p>
        </p:txBody>
      </p:sp>
      <p:sp>
        <p:nvSpPr>
          <p:cNvPr id="747" name="Rounded Rectangle 9"/>
          <p:cNvSpPr/>
          <p:nvPr/>
        </p:nvSpPr>
        <p:spPr>
          <a:xfrm>
            <a:off x="6355079" y="2377439"/>
            <a:ext cx="1325881" cy="640081"/>
          </a:xfrm>
          <a:prstGeom prst="roundRect">
            <a:avLst>
              <a:gd name="adj" fmla="val 16667"/>
            </a:avLst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8" name="TextBox 10"/>
          <p:cNvSpPr txBox="1"/>
          <p:nvPr/>
        </p:nvSpPr>
        <p:spPr>
          <a:xfrm>
            <a:off x="6400799" y="2377439"/>
            <a:ext cx="123444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WebSocket</a:t>
            </a:r>
          </a:p>
        </p:txBody>
      </p:sp>
      <p:sp>
        <p:nvSpPr>
          <p:cNvPr id="749" name="Rounded Rectangle 11"/>
          <p:cNvSpPr/>
          <p:nvPr/>
        </p:nvSpPr>
        <p:spPr>
          <a:xfrm>
            <a:off x="7863840" y="2377439"/>
            <a:ext cx="1234441" cy="640081"/>
          </a:xfrm>
          <a:prstGeom prst="roundRect">
            <a:avLst>
              <a:gd name="adj" fmla="val 16667"/>
            </a:avLst>
          </a:prstGeom>
          <a:solidFill>
            <a:srgbClr val="31979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0" name="TextBox 12"/>
          <p:cNvSpPr txBox="1"/>
          <p:nvPr/>
        </p:nvSpPr>
        <p:spPr>
          <a:xfrm>
            <a:off x="7909560" y="2377439"/>
            <a:ext cx="114300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Server</a:t>
            </a:r>
          </a:p>
        </p:txBody>
      </p:sp>
      <p:sp>
        <p:nvSpPr>
          <p:cNvPr id="751" name="TextBox 13"/>
          <p:cNvSpPr txBox="1"/>
          <p:nvPr/>
        </p:nvSpPr>
        <p:spPr>
          <a:xfrm>
            <a:off x="4892040" y="3200399"/>
            <a:ext cx="393192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C9C9DA"/>
                </a:solidFill>
              </a:defRPr>
            </a:lvl1pPr>
          </a:lstStyle>
          <a:p>
            <a:pPr/>
            <a:r>
              <a:t>events pushed as they happen, no polling</a:t>
            </a:r>
          </a:p>
        </p:txBody>
      </p:sp>
      <p:sp>
        <p:nvSpPr>
          <p:cNvPr id="752" name="Oval 14"/>
          <p:cNvSpPr/>
          <p:nvPr/>
        </p:nvSpPr>
        <p:spPr>
          <a:xfrm>
            <a:off x="4892040" y="3739896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3" name="TextBox 15"/>
          <p:cNvSpPr txBox="1"/>
          <p:nvPr/>
        </p:nvSpPr>
        <p:spPr>
          <a:xfrm>
            <a:off x="5212079" y="3657599"/>
            <a:ext cx="3566161" cy="273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The third root type, next to Query and Mutation</a:t>
            </a:r>
          </a:p>
        </p:txBody>
      </p:sp>
      <p:sp>
        <p:nvSpPr>
          <p:cNvPr id="754" name="Oval 16"/>
          <p:cNvSpPr/>
          <p:nvPr/>
        </p:nvSpPr>
        <p:spPr>
          <a:xfrm>
            <a:off x="4892040" y="4151376"/>
            <a:ext cx="100585" cy="100585"/>
          </a:xfrm>
          <a:prstGeom prst="ellipse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5" name="TextBox 17"/>
          <p:cNvSpPr txBox="1"/>
          <p:nvPr/>
        </p:nvSpPr>
        <p:spPr>
          <a:xfrm>
            <a:off x="5212079" y="4069079"/>
            <a:ext cx="3566161" cy="273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A long-lived connection over WebSocket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836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Box 1"/>
          <p:cNvSpPr txBox="1"/>
          <p:nvPr/>
        </p:nvSpPr>
        <p:spPr>
          <a:xfrm>
            <a:off x="502919" y="118871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758" name="Rectangle 2"/>
          <p:cNvSpPr/>
          <p:nvPr/>
        </p:nvSpPr>
        <p:spPr>
          <a:xfrm>
            <a:off x="3977638" y="2148839"/>
            <a:ext cx="1188721" cy="45721"/>
          </a:xfrm>
          <a:prstGeom prst="rect">
            <a:avLst/>
          </a:prstGeom>
          <a:solidFill>
            <a:srgbClr val="C2203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9" name="Rounded Rectangle 3"/>
          <p:cNvSpPr/>
          <p:nvPr/>
        </p:nvSpPr>
        <p:spPr>
          <a:xfrm>
            <a:off x="1371600" y="2560320"/>
            <a:ext cx="6400800" cy="548641"/>
          </a:xfrm>
          <a:prstGeom prst="roundRect">
            <a:avLst>
              <a:gd name="adj" fmla="val 16667"/>
            </a:avLst>
          </a:prstGeom>
          <a:solidFill>
            <a:srgbClr val="221B4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" name="TextBox 4"/>
          <p:cNvSpPr txBox="1"/>
          <p:nvPr/>
        </p:nvSpPr>
        <p:spPr>
          <a:xfrm>
            <a:off x="1600199" y="2670048"/>
            <a:ext cx="5943601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https://www.linkedin.com/in/zkozina</a:t>
            </a:r>
          </a:p>
        </p:txBody>
      </p:sp>
      <p:pic>
        <p:nvPicPr>
          <p:cNvPr id="76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0791" y="3931920"/>
            <a:ext cx="1051561" cy="712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